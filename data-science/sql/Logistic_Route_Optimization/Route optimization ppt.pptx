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3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4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5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6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7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8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Ex1.xml" ContentType="application/vnd.ms-office.chartex+xml"/>
  <Override PartName="/ppt/charts/style14.xml" ContentType="application/vnd.ms-office.chartstyle+xml"/>
  <Override PartName="/ppt/charts/colors14.xml" ContentType="application/vnd.ms-office.chartcolorstyle+xml"/>
  <Override PartName="/ppt/charts/chart14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9.xml" ContentType="application/vnd.openxmlformats-officedocument.themeOverride+xml"/>
  <Override PartName="/ppt/charts/chart15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6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7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10.xml" ContentType="application/vnd.openxmlformats-officedocument.themeOverride+xml"/>
  <Override PartName="/ppt/charts/chart18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11.xml" ContentType="application/vnd.openxmlformats-officedocument.themeOverride+xml"/>
  <Override PartName="/ppt/charts/chart19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12.xml" ContentType="application/vnd.openxmlformats-officedocument.themeOverride+xml"/>
  <Override PartName="/ppt/charts/chart20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1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2" r:id="rId2"/>
  </p:sldMasterIdLst>
  <p:sldIdLst>
    <p:sldId id="349" r:id="rId3"/>
    <p:sldId id="389" r:id="rId4"/>
    <p:sldId id="411" r:id="rId5"/>
    <p:sldId id="391" r:id="rId6"/>
    <p:sldId id="393" r:id="rId7"/>
    <p:sldId id="392" r:id="rId8"/>
    <p:sldId id="394" r:id="rId9"/>
    <p:sldId id="395" r:id="rId10"/>
    <p:sldId id="396" r:id="rId11"/>
    <p:sldId id="397" r:id="rId12"/>
    <p:sldId id="413" r:id="rId13"/>
    <p:sldId id="398" r:id="rId14"/>
    <p:sldId id="399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41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0066"/>
    <a:srgbClr val="D8CEC9"/>
    <a:srgbClr val="D2B48C"/>
    <a:srgbClr val="FFFFFF"/>
    <a:srgbClr val="FAF8FA"/>
    <a:srgbClr val="FEECFD"/>
    <a:srgbClr val="FEF4FE"/>
    <a:srgbClr val="DBFBFD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2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0" y="66"/>
      </p:cViewPr>
      <p:guideLst>
        <p:guide orient="horz" pos="2208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ksh\Downloads\attachments%20(2)\sql%20ppt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ksh\Downloads\attachments%20(2)\sql%20ppt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ksham\Downloads\sql%20ppt%20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saksham\Downloads\sql%20ppt%20(1)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saksham\Downloads\sql%20ppt%20(1)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saksham\Downloads\sql%20ppt%20(1)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ksh\Downloads\sql%20ppt%20(1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C:\Users\saksh\Downloads\sql%20ppt%20(1)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C:\Users\saksh\Downloads\sql%20ppt%20(1)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file:///C:\Users\saksham\Downloads\sql%20ppt%20(1)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C:\Users\saksham\Downloads\sql%20ppt%20(1)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ksham\Downloads\sql%20ppt%20(1)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oleObject" Target="file:///C:\Users\saksham\Downloads\sql%20ppt%20(1)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ksham\Downloads\sql%20ppt%20(1)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ksham\Downloads\sql%20ppt%20(1)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oleObject" Target="file:///C:\Users\saksham\Downloads\sql%20ppt%20(1)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oleObject" Target="file:///C:\Users\saksham\Downloads\sql%20ppt%20(1).xlsx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oleObject" Target="file:///C:\Users\saksh\Downloads\sql%20ppt%20(1).xlsx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oleObject" Target="file:///C:\Users\saksham\Downloads\sql%20ppt%20(1).xlsx" TargetMode="Externa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file:///C:\Users\saksham\Downloads\sql%20ppt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[sql ppt (1).xlsx]task 2 1!PivotTable2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Delayed Orders By Days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6699"/>
          </a:solidFill>
          <a:ln>
            <a:noFill/>
          </a:ln>
          <a:effectLst/>
        </c:spPr>
        <c:marker>
          <c:spPr>
            <a:solidFill>
              <a:srgbClr val="FF6699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3399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lumMod val="60000"/>
              <a:lumOff val="40000"/>
            </a:schemeClr>
          </a:solidFill>
          <a:ln w="25400">
            <a:noFill/>
          </a:ln>
          <a:effectLst/>
        </c:spPr>
      </c:pivotFmt>
      <c:pivotFmt>
        <c:idx val="3"/>
        <c:spPr>
          <a:solidFill>
            <a:srgbClr val="FFFF00"/>
          </a:solidFill>
          <a:ln w="25400">
            <a:noFill/>
          </a:ln>
          <a:effectLst/>
        </c:spPr>
      </c:pivotFmt>
      <c:pivotFmt>
        <c:idx val="4"/>
        <c:spPr>
          <a:solidFill>
            <a:srgbClr val="FF3399"/>
          </a:solidFill>
          <a:ln w="25400">
            <a:noFill/>
          </a:ln>
          <a:effectLst/>
        </c:spPr>
      </c:pivotFmt>
      <c:pivotFmt>
        <c:idx val="5"/>
        <c:spPr>
          <a:solidFill>
            <a:srgbClr val="FF3399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FF3399"/>
          </a:solidFill>
          <a:ln w="25400">
            <a:noFill/>
          </a:ln>
          <a:effectLst/>
        </c:spPr>
      </c:pivotFmt>
      <c:pivotFmt>
        <c:idx val="7"/>
        <c:spPr>
          <a:solidFill>
            <a:srgbClr val="FFFF00"/>
          </a:solidFill>
          <a:ln w="25400">
            <a:noFill/>
          </a:ln>
          <a:effectLst/>
        </c:spPr>
      </c:pivotFmt>
      <c:pivotFmt>
        <c:idx val="8"/>
        <c:spPr>
          <a:solidFill>
            <a:schemeClr val="accent1">
              <a:lumMod val="60000"/>
              <a:lumOff val="40000"/>
            </a:schemeClr>
          </a:solidFill>
          <a:ln w="25400">
            <a:noFill/>
          </a:ln>
          <a:effectLst/>
        </c:spPr>
      </c:pivotFmt>
      <c:pivotFmt>
        <c:idx val="9"/>
        <c:spPr>
          <a:solidFill>
            <a:srgbClr val="FF3399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FF3399"/>
          </a:solidFill>
          <a:ln w="25400">
            <a:noFill/>
          </a:ln>
          <a:effectLst/>
        </c:spPr>
      </c:pivotFmt>
      <c:pivotFmt>
        <c:idx val="11"/>
        <c:spPr>
          <a:solidFill>
            <a:srgbClr val="FFFF00"/>
          </a:solidFill>
          <a:ln w="25400">
            <a:noFill/>
          </a:ln>
          <a:effectLst/>
        </c:spPr>
      </c:pivotFmt>
      <c:pivotFmt>
        <c:idx val="12"/>
        <c:spPr>
          <a:solidFill>
            <a:schemeClr val="accent1">
              <a:lumMod val="60000"/>
              <a:lumOff val="40000"/>
            </a:schemeClr>
          </a:solidFill>
          <a:ln w="25400"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30860582368562511"/>
          <c:y val="0.17580723642205426"/>
          <c:w val="0.36230231020406434"/>
          <c:h val="0.66229461876712037"/>
        </c:manualLayout>
      </c:layout>
      <c:pieChart>
        <c:varyColors val="1"/>
        <c:ser>
          <c:idx val="0"/>
          <c:order val="0"/>
          <c:tx>
            <c:strRef>
              <c:f>'task 2 1'!$F$2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3399"/>
            </a:solidFill>
            <a:ln w="25400">
              <a:noFill/>
            </a:ln>
          </c:spPr>
          <c:dPt>
            <c:idx val="0"/>
            <c:bubble3D val="0"/>
            <c:spPr>
              <a:solidFill>
                <a:srgbClr val="FF3399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DC3-4B5D-A7EF-16F77D8FACDE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DC3-4B5D-A7EF-16F77D8FACDE}"/>
              </c:ext>
            </c:extLst>
          </c:dPt>
          <c:dPt>
            <c:idx val="2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DC3-4B5D-A7EF-16F77D8FACD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'task 2 1'!$E$3:$E$6</c:f>
              <c:strCach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strCache>
            </c:strRef>
          </c:cat>
          <c:val>
            <c:numRef>
              <c:f>'task 2 1'!$F$3:$F$6</c:f>
              <c:numCache>
                <c:formatCode>General</c:formatCode>
                <c:ptCount val="3"/>
                <c:pt idx="0">
                  <c:v>168</c:v>
                </c:pt>
                <c:pt idx="1">
                  <c:v>58</c:v>
                </c:pt>
                <c:pt idx="2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C3-4B5D-A7EF-16F77D8FAC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solidFill>
          <a:schemeClr val="lt1"/>
        </a:solid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2347766490503971"/>
          <c:y val="0.87942038495188102"/>
          <c:w val="0.15589048467587585"/>
          <c:h val="9.08581219014289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rgbClr val="FF6699"/>
      </a:solidFill>
      <a:round/>
    </a:ln>
    <a:effectLst>
      <a:outerShdw blurRad="1397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[sql ppt (1).xlsx]task 2 2!PivotTable3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Avg Delay Days Per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669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669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669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'task 2 2'!$H$2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dLbls>
            <c:delete val="1"/>
          </c:dLbls>
          <c:cat>
            <c:strRef>
              <c:f>'task 2 2'!$G$3:$G$13</c:f>
              <c:strCache>
                <c:ptCount val="10"/>
                <c:pt idx="0">
                  <c:v>R001</c:v>
                </c:pt>
                <c:pt idx="1">
                  <c:v>R002</c:v>
                </c:pt>
                <c:pt idx="2">
                  <c:v>R004</c:v>
                </c:pt>
                <c:pt idx="3">
                  <c:v>R005</c:v>
                </c:pt>
                <c:pt idx="4">
                  <c:v>R012</c:v>
                </c:pt>
                <c:pt idx="5">
                  <c:v>R014</c:v>
                </c:pt>
                <c:pt idx="6">
                  <c:v>R015</c:v>
                </c:pt>
                <c:pt idx="7">
                  <c:v>R016</c:v>
                </c:pt>
                <c:pt idx="8">
                  <c:v>R017</c:v>
                </c:pt>
                <c:pt idx="9">
                  <c:v>R019</c:v>
                </c:pt>
              </c:strCache>
            </c:strRef>
          </c:cat>
          <c:val>
            <c:numRef>
              <c:f>'task 2 2'!$H$3:$H$13</c:f>
              <c:numCache>
                <c:formatCode>General</c:formatCode>
                <c:ptCount val="10"/>
                <c:pt idx="0">
                  <c:v>1.6667000000000001</c:v>
                </c:pt>
                <c:pt idx="1">
                  <c:v>1.5713999999999999</c:v>
                </c:pt>
                <c:pt idx="2">
                  <c:v>1.6</c:v>
                </c:pt>
                <c:pt idx="3">
                  <c:v>1.7142999999999999</c:v>
                </c:pt>
                <c:pt idx="4">
                  <c:v>1.625</c:v>
                </c:pt>
                <c:pt idx="5">
                  <c:v>1.6</c:v>
                </c:pt>
                <c:pt idx="6">
                  <c:v>2</c:v>
                </c:pt>
                <c:pt idx="7">
                  <c:v>1.6667000000000001</c:v>
                </c:pt>
                <c:pt idx="8">
                  <c:v>1.75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94-4AF7-BA62-38E5D02E7E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791325471"/>
        <c:axId val="1791332671"/>
      </c:areaChart>
      <c:catAx>
        <c:axId val="17913254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332671"/>
        <c:crosses val="autoZero"/>
        <c:auto val="1"/>
        <c:lblAlgn val="ctr"/>
        <c:lblOffset val="100"/>
        <c:noMultiLvlLbl val="0"/>
      </c:catAx>
      <c:valAx>
        <c:axId val="1791332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325471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rgbClr val="FF6699"/>
      </a:solidFill>
      <a:round/>
    </a:ln>
    <a:effectLst>
      <a:outerShdw blurRad="1016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[sql ppt (1).xlsx]task 2 3 (2)!PivotTable5</c:name>
    <c:fmtId val="5"/>
  </c:pivotSource>
  <c:chart>
    <c:autoTitleDeleted val="0"/>
    <c:pivotFmts>
      <c:pivotFmt>
        <c:idx val="0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FF00"/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FF00"/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FF00"/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6072955731148719E-2"/>
          <c:y val="0.15900059629694943"/>
          <c:w val="0.88795852188072277"/>
          <c:h val="0.735976022209289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'task 2 3 (2)'!$I$3</c:f>
              <c:strCache>
                <c:ptCount val="1"/>
                <c:pt idx="0">
                  <c:v>Count of Order_ID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'task 2 3 (2)'!$H$4:$H$14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'task 2 3 (2)'!$I$4:$I$14</c:f>
              <c:numCache>
                <c:formatCode>General</c:formatCode>
                <c:ptCount val="10"/>
                <c:pt idx="0">
                  <c:v>18</c:v>
                </c:pt>
                <c:pt idx="1">
                  <c:v>10</c:v>
                </c:pt>
                <c:pt idx="2">
                  <c:v>13</c:v>
                </c:pt>
                <c:pt idx="3">
                  <c:v>12</c:v>
                </c:pt>
                <c:pt idx="4">
                  <c:v>14</c:v>
                </c:pt>
                <c:pt idx="5">
                  <c:v>12</c:v>
                </c:pt>
                <c:pt idx="6">
                  <c:v>15</c:v>
                </c:pt>
                <c:pt idx="7">
                  <c:v>5</c:v>
                </c:pt>
                <c:pt idx="8">
                  <c:v>13</c:v>
                </c:pt>
                <c:pt idx="9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39-49B3-A92F-B138549233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axId val="2128205807"/>
        <c:axId val="2128196687"/>
      </c:barChart>
      <c:lineChart>
        <c:grouping val="standard"/>
        <c:varyColors val="0"/>
        <c:ser>
          <c:idx val="1"/>
          <c:order val="1"/>
          <c:tx>
            <c:strRef>
              <c:f>'task 2 3 (2)'!$J$3</c:f>
              <c:strCache>
                <c:ptCount val="1"/>
                <c:pt idx="0">
                  <c:v>Average of delay</c:v>
                </c:pt>
              </c:strCache>
            </c:strRef>
          </c:tx>
          <c:spPr>
            <a:ln w="28575" cap="rnd">
              <a:solidFill>
                <a:srgbClr val="FF6699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FFFF00"/>
              </a:solidFill>
              <a:ln w="9525">
                <a:noFill/>
              </a:ln>
              <a:effectLst/>
            </c:spPr>
          </c:marker>
          <c:cat>
            <c:strRef>
              <c:f>'task 2 3 (2)'!$H$4:$H$14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'task 2 3 (2)'!$J$4:$J$14</c:f>
              <c:numCache>
                <c:formatCode>General</c:formatCode>
                <c:ptCount val="10"/>
                <c:pt idx="0">
                  <c:v>1.5</c:v>
                </c:pt>
                <c:pt idx="1">
                  <c:v>1.6</c:v>
                </c:pt>
                <c:pt idx="2">
                  <c:v>1.5384615384615385</c:v>
                </c:pt>
                <c:pt idx="3">
                  <c:v>1.5</c:v>
                </c:pt>
                <c:pt idx="4">
                  <c:v>1.6428571428571428</c:v>
                </c:pt>
                <c:pt idx="5">
                  <c:v>1.5833333333333333</c:v>
                </c:pt>
                <c:pt idx="6">
                  <c:v>1.6666666666666667</c:v>
                </c:pt>
                <c:pt idx="7">
                  <c:v>1.8</c:v>
                </c:pt>
                <c:pt idx="8">
                  <c:v>1.5384615384615385</c:v>
                </c:pt>
                <c:pt idx="9">
                  <c:v>1.45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39-49B3-A92F-B138549233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31547023"/>
        <c:axId val="2131551343"/>
      </c:lineChart>
      <c:catAx>
        <c:axId val="2128205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8196687"/>
        <c:crosses val="autoZero"/>
        <c:auto val="1"/>
        <c:lblAlgn val="ctr"/>
        <c:lblOffset val="100"/>
        <c:noMultiLvlLbl val="0"/>
      </c:catAx>
      <c:valAx>
        <c:axId val="2128196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00B0F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8205807"/>
        <c:crosses val="autoZero"/>
        <c:crossBetween val="between"/>
      </c:valAx>
      <c:valAx>
        <c:axId val="213155134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solidFill>
              <a:srgbClr val="FF6699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1547023"/>
        <c:crosses val="max"/>
        <c:crossBetween val="between"/>
      </c:valAx>
      <c:catAx>
        <c:axId val="21315470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1315513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5546729769499432E-2"/>
          <c:y val="3.3982129692261432E-3"/>
          <c:w val="0.41503323508111573"/>
          <c:h val="0.113186962165727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[sql ppt (1).xlsx]task 3 1 1!PivotTable4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Average Delivery Day Per Route</a:t>
            </a:r>
          </a:p>
        </c:rich>
      </c:tx>
      <c:layout>
        <c:manualLayout>
          <c:xMode val="edge"/>
          <c:yMode val="edge"/>
          <c:x val="0.2526685055013870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1381947888253438E-2"/>
          <c:y val="0.11346271112508008"/>
          <c:w val="0.93852262630595318"/>
          <c:h val="0.74026977159884744"/>
        </c:manualLayout>
      </c:layout>
      <c:lineChart>
        <c:grouping val="standard"/>
        <c:varyColors val="0"/>
        <c:ser>
          <c:idx val="0"/>
          <c:order val="0"/>
          <c:tx>
            <c:strRef>
              <c:f>'task 3 1 1'!$G$4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tx1">
                  <a:lumMod val="85000"/>
                  <a:lumOff val="15000"/>
                </a:schemeClr>
              </a:solidFill>
              <a:ln w="15875">
                <a:noFill/>
                <a:round/>
              </a:ln>
              <a:effectLst/>
            </c:spPr>
          </c:marker>
          <c:cat>
            <c:strRef>
              <c:f>'task 3 1 1'!$F$5:$F$25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'task 3 1 1'!$G$5:$G$25</c:f>
              <c:numCache>
                <c:formatCode>General</c:formatCode>
                <c:ptCount val="2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6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6</c:v>
                </c:pt>
                <c:pt idx="11">
                  <c:v>5</c:v>
                </c:pt>
                <c:pt idx="12">
                  <c:v>4</c:v>
                </c:pt>
                <c:pt idx="13">
                  <c:v>6</c:v>
                </c:pt>
                <c:pt idx="14">
                  <c:v>6</c:v>
                </c:pt>
                <c:pt idx="15">
                  <c:v>5</c:v>
                </c:pt>
                <c:pt idx="16">
                  <c:v>6</c:v>
                </c:pt>
                <c:pt idx="17">
                  <c:v>5</c:v>
                </c:pt>
                <c:pt idx="18">
                  <c:v>6</c:v>
                </c:pt>
                <c:pt idx="1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F2-4C17-AB27-FEA198EEBA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4984815"/>
        <c:axId val="1754985295"/>
      </c:lineChart>
      <c:catAx>
        <c:axId val="17549848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5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5295"/>
        <c:crosses val="autoZero"/>
        <c:auto val="1"/>
        <c:lblAlgn val="ctr"/>
        <c:lblOffset val="100"/>
        <c:noMultiLvlLbl val="0"/>
      </c:catAx>
      <c:valAx>
        <c:axId val="175498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481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2.0292283670779312E-2"/>
          <c:y val="2.3234186386373399E-3"/>
          <c:w val="0.20686581492488537"/>
          <c:h val="0.106311008347398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[sql ppt (1).xlsx]task 3 1 2!PivotTable5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Average Traffic Delay Per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6699"/>
          </a:solidFill>
          <a:ln>
            <a:noFill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3 1 2'!$F$6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'task 3 1 2'!$E$7:$E$27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'task 3 1 2'!$F$7:$F$27</c:f>
              <c:numCache>
                <c:formatCode>General</c:formatCode>
                <c:ptCount val="20"/>
                <c:pt idx="0">
                  <c:v>40.5</c:v>
                </c:pt>
                <c:pt idx="1">
                  <c:v>29.333300000000001</c:v>
                </c:pt>
                <c:pt idx="2">
                  <c:v>14.666700000000001</c:v>
                </c:pt>
                <c:pt idx="3">
                  <c:v>5.25</c:v>
                </c:pt>
                <c:pt idx="4">
                  <c:v>47.2727</c:v>
                </c:pt>
                <c:pt idx="5">
                  <c:v>70</c:v>
                </c:pt>
                <c:pt idx="6">
                  <c:v>66.3</c:v>
                </c:pt>
                <c:pt idx="7">
                  <c:v>46.363599999999998</c:v>
                </c:pt>
                <c:pt idx="8">
                  <c:v>53.666699999999999</c:v>
                </c:pt>
                <c:pt idx="9">
                  <c:v>61.818199999999997</c:v>
                </c:pt>
                <c:pt idx="10">
                  <c:v>42.5</c:v>
                </c:pt>
                <c:pt idx="11">
                  <c:v>33.142899999999997</c:v>
                </c:pt>
                <c:pt idx="12">
                  <c:v>60.8</c:v>
                </c:pt>
                <c:pt idx="13">
                  <c:v>92.8</c:v>
                </c:pt>
                <c:pt idx="14">
                  <c:v>36.25</c:v>
                </c:pt>
                <c:pt idx="15">
                  <c:v>11.2</c:v>
                </c:pt>
                <c:pt idx="16">
                  <c:v>11.5556</c:v>
                </c:pt>
                <c:pt idx="17">
                  <c:v>17</c:v>
                </c:pt>
                <c:pt idx="18">
                  <c:v>61.666699999999999</c:v>
                </c:pt>
                <c:pt idx="19">
                  <c:v>34.5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5A-41DC-9BD7-FAA632934C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951470383"/>
        <c:axId val="1951460303"/>
      </c:barChart>
      <c:catAx>
        <c:axId val="19514703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8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1460303"/>
        <c:crosses val="autoZero"/>
        <c:auto val="1"/>
        <c:lblAlgn val="ctr"/>
        <c:lblOffset val="100"/>
        <c:noMultiLvlLbl val="0"/>
      </c:catAx>
      <c:valAx>
        <c:axId val="1951460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1470383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[sql ppt (1).xlsx]task 3 1 3!PivotTable6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Efficiency Ratio Per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2225" cap="rnd">
            <a:solidFill>
              <a:srgbClr val="FF6699">
                <a:alpha val="98000"/>
              </a:srgbClr>
            </a:solidFill>
            <a:round/>
          </a:ln>
          <a:effectLst/>
        </c:spPr>
        <c:marker>
          <c:symbol val="circle"/>
          <c:size val="3"/>
          <c:spPr>
            <a:solidFill>
              <a:srgbClr val="0070C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7093548822957666E-2"/>
          <c:y val="0.15913281155098893"/>
          <c:w val="0.93852262630595318"/>
          <c:h val="0.70706672263402848"/>
        </c:manualLayout>
      </c:layout>
      <c:lineChart>
        <c:grouping val="standard"/>
        <c:varyColors val="0"/>
        <c:ser>
          <c:idx val="0"/>
          <c:order val="0"/>
          <c:tx>
            <c:strRef>
              <c:f>'task 3 1 3'!$G$6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rgbClr val="FF6699">
                  <a:alpha val="98000"/>
                </a:srgbClr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0070C0"/>
              </a:solidFill>
              <a:ln w="15875">
                <a:noFill/>
                <a:round/>
              </a:ln>
              <a:effectLst/>
            </c:spPr>
          </c:marker>
          <c:cat>
            <c:strRef>
              <c:f>'task 3 1 3'!$F$7:$F$27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'task 3 1 3'!$G$7:$G$27</c:f>
              <c:numCache>
                <c:formatCode>General</c:formatCode>
                <c:ptCount val="20"/>
                <c:pt idx="0">
                  <c:v>0.61</c:v>
                </c:pt>
                <c:pt idx="1">
                  <c:v>2.16</c:v>
                </c:pt>
                <c:pt idx="2">
                  <c:v>0.57999999999999996</c:v>
                </c:pt>
                <c:pt idx="3">
                  <c:v>4.28</c:v>
                </c:pt>
                <c:pt idx="4">
                  <c:v>0.37</c:v>
                </c:pt>
                <c:pt idx="5">
                  <c:v>0.16</c:v>
                </c:pt>
                <c:pt idx="6">
                  <c:v>0.28000000000000003</c:v>
                </c:pt>
                <c:pt idx="7">
                  <c:v>0.24</c:v>
                </c:pt>
                <c:pt idx="8">
                  <c:v>0.6</c:v>
                </c:pt>
                <c:pt idx="9">
                  <c:v>0.67</c:v>
                </c:pt>
                <c:pt idx="10">
                  <c:v>0.96</c:v>
                </c:pt>
                <c:pt idx="11">
                  <c:v>0.9</c:v>
                </c:pt>
                <c:pt idx="12">
                  <c:v>0.93</c:v>
                </c:pt>
                <c:pt idx="13">
                  <c:v>2.2799999999999998</c:v>
                </c:pt>
                <c:pt idx="14">
                  <c:v>0.3</c:v>
                </c:pt>
                <c:pt idx="15">
                  <c:v>0.15</c:v>
                </c:pt>
                <c:pt idx="16">
                  <c:v>0.33</c:v>
                </c:pt>
                <c:pt idx="17">
                  <c:v>0.54</c:v>
                </c:pt>
                <c:pt idx="18">
                  <c:v>3.77</c:v>
                </c:pt>
                <c:pt idx="19">
                  <c:v>0.55000000000000004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F2-4C17-AB27-FEA198EEBA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4984815"/>
        <c:axId val="1754985295"/>
      </c:lineChart>
      <c:catAx>
        <c:axId val="17549848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  <a:alpha val="49000"/>
                </a:sys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8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5295"/>
        <c:crosses val="autoZero"/>
        <c:auto val="1"/>
        <c:lblAlgn val="ctr"/>
        <c:lblOffset val="100"/>
        <c:noMultiLvlLbl val="0"/>
      </c:catAx>
      <c:valAx>
        <c:axId val="175498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481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1.1465356713679277E-2"/>
          <c:y val="2.3726305045202681E-2"/>
          <c:w val="0.20686581492488537"/>
          <c:h val="8.28452656734563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>
      <a:outerShdw blurRad="1016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efficient_ratio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6699"/>
          </a:solidFill>
          <a:ln>
            <a:noFill/>
          </a:ln>
          <a:effectLst/>
        </c:spPr>
        <c:marker>
          <c:spPr>
            <a:solidFill>
              <a:srgbClr val="FF6699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3399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lumMod val="60000"/>
              <a:lumOff val="40000"/>
            </a:schemeClr>
          </a:solidFill>
          <a:ln w="25400">
            <a:noFill/>
          </a:ln>
          <a:effectLst/>
        </c:spPr>
      </c:pivotFmt>
      <c:pivotFmt>
        <c:idx val="3"/>
        <c:spPr>
          <a:solidFill>
            <a:srgbClr val="FFFF00"/>
          </a:solidFill>
          <a:ln w="25400">
            <a:noFill/>
          </a:ln>
          <a:effectLst/>
        </c:spPr>
      </c:pivotFmt>
      <c:pivotFmt>
        <c:idx val="4"/>
        <c:spPr>
          <a:solidFill>
            <a:srgbClr val="FF3399"/>
          </a:solidFill>
          <a:ln w="25400"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32381412678449517"/>
          <c:y val="0.16342448064262149"/>
          <c:w val="0.35029857667621717"/>
          <c:h val="0.7535687150940678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efficient_ratio</c:v>
                </c:pt>
              </c:strCache>
            </c:strRef>
          </c:tx>
          <c:spPr>
            <a:solidFill>
              <a:srgbClr val="FF3399"/>
            </a:solidFill>
            <a:ln w="25400">
              <a:noFill/>
            </a:ln>
          </c:spPr>
          <c:dPt>
            <c:idx val="0"/>
            <c:bubble3D val="0"/>
            <c:spPr>
              <a:solidFill>
                <a:srgbClr val="FF3399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80A-4B39-936F-1A056AB6286C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526-4DD3-9CD8-57EDE0B45EBB}"/>
              </c:ext>
            </c:extLst>
          </c:dPt>
          <c:dPt>
            <c:idx val="2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26-4DD3-9CD8-57EDE0B45E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R016</c:v>
                </c:pt>
                <c:pt idx="1">
                  <c:v>R006</c:v>
                </c:pt>
                <c:pt idx="2">
                  <c:v>R008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</c:v>
                </c:pt>
                <c:pt idx="1">
                  <c:v>0.16</c:v>
                </c:pt>
                <c:pt idx="2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26-4DD3-9CD8-57EDE0B45E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solidFill>
          <a:schemeClr val="lt1"/>
        </a:solid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826162419659328"/>
          <c:y val="0.69947198794165677"/>
          <c:w val="0.20110636699519446"/>
          <c:h val="0.270806462977883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[sql ppt (1).xlsx]task 2 1!PivotTable1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Order Status Per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1381986784725842E-2"/>
          <c:y val="0.19907407407407407"/>
          <c:w val="0.93852262630595318"/>
          <c:h val="0.69389690871974341"/>
        </c:manualLayout>
      </c:layout>
      <c:lineChart>
        <c:grouping val="standard"/>
        <c:varyColors val="0"/>
        <c:ser>
          <c:idx val="0"/>
          <c:order val="0"/>
          <c:tx>
            <c:strRef>
              <c:f>'task 2 1'!$K$7:$K$8</c:f>
              <c:strCache>
                <c:ptCount val="1"/>
                <c:pt idx="0">
                  <c:v>Delayed</c:v>
                </c:pt>
              </c:strCache>
            </c:strRef>
          </c:tx>
          <c:spPr>
            <a:ln w="2222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tx1">
                  <a:lumMod val="85000"/>
                  <a:lumOff val="15000"/>
                </a:schemeClr>
              </a:solidFill>
              <a:ln w="15875">
                <a:noFill/>
                <a:round/>
              </a:ln>
              <a:effectLst/>
            </c:spPr>
          </c:marker>
          <c:cat>
            <c:strRef>
              <c:f>'task 2 1'!$J$9:$J$29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'task 2 1'!$K$9:$K$29</c:f>
              <c:numCache>
                <c:formatCode>General</c:formatCode>
                <c:ptCount val="20"/>
                <c:pt idx="0">
                  <c:v>6</c:v>
                </c:pt>
                <c:pt idx="1">
                  <c:v>7</c:v>
                </c:pt>
                <c:pt idx="2">
                  <c:v>4</c:v>
                </c:pt>
                <c:pt idx="3">
                  <c:v>10</c:v>
                </c:pt>
                <c:pt idx="4">
                  <c:v>7</c:v>
                </c:pt>
                <c:pt idx="5">
                  <c:v>4</c:v>
                </c:pt>
                <c:pt idx="6">
                  <c:v>7</c:v>
                </c:pt>
                <c:pt idx="7">
                  <c:v>5</c:v>
                </c:pt>
                <c:pt idx="8">
                  <c:v>6</c:v>
                </c:pt>
                <c:pt idx="9">
                  <c:v>9</c:v>
                </c:pt>
                <c:pt idx="10">
                  <c:v>9</c:v>
                </c:pt>
                <c:pt idx="11">
                  <c:v>8</c:v>
                </c:pt>
                <c:pt idx="12">
                  <c:v>9</c:v>
                </c:pt>
                <c:pt idx="13">
                  <c:v>5</c:v>
                </c:pt>
                <c:pt idx="14">
                  <c:v>3</c:v>
                </c:pt>
                <c:pt idx="15">
                  <c:v>3</c:v>
                </c:pt>
                <c:pt idx="16">
                  <c:v>8</c:v>
                </c:pt>
                <c:pt idx="17">
                  <c:v>6</c:v>
                </c:pt>
                <c:pt idx="18">
                  <c:v>4</c:v>
                </c:pt>
                <c:pt idx="19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BF-43E5-BA05-42715F2779CF}"/>
            </c:ext>
          </c:extLst>
        </c:ser>
        <c:ser>
          <c:idx val="1"/>
          <c:order val="1"/>
          <c:tx>
            <c:strRef>
              <c:f>'task 2 1'!$L$7:$L$8</c:f>
              <c:strCache>
                <c:ptCount val="1"/>
                <c:pt idx="0">
                  <c:v>On Time</c:v>
                </c:pt>
              </c:strCache>
            </c:strRef>
          </c:tx>
          <c:spPr>
            <a:ln w="22225" cap="rnd">
              <a:solidFill>
                <a:srgbClr val="FF6699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FF0000"/>
              </a:solidFill>
              <a:ln w="15875">
                <a:noFill/>
                <a:round/>
              </a:ln>
              <a:effectLst/>
            </c:spPr>
          </c:marker>
          <c:cat>
            <c:strRef>
              <c:f>'task 2 1'!$J$9:$J$29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'task 2 1'!$L$9:$L$29</c:f>
              <c:numCache>
                <c:formatCode>General</c:formatCode>
                <c:ptCount val="20"/>
                <c:pt idx="0">
                  <c:v>9</c:v>
                </c:pt>
                <c:pt idx="1">
                  <c:v>15</c:v>
                </c:pt>
                <c:pt idx="2">
                  <c:v>6</c:v>
                </c:pt>
                <c:pt idx="3">
                  <c:v>10</c:v>
                </c:pt>
                <c:pt idx="4">
                  <c:v>8</c:v>
                </c:pt>
                <c:pt idx="5">
                  <c:v>7</c:v>
                </c:pt>
                <c:pt idx="6">
                  <c:v>9</c:v>
                </c:pt>
                <c:pt idx="7">
                  <c:v>11</c:v>
                </c:pt>
                <c:pt idx="8">
                  <c:v>10</c:v>
                </c:pt>
                <c:pt idx="9">
                  <c:v>11</c:v>
                </c:pt>
                <c:pt idx="10">
                  <c:v>11</c:v>
                </c:pt>
                <c:pt idx="11">
                  <c:v>4</c:v>
                </c:pt>
                <c:pt idx="12">
                  <c:v>8</c:v>
                </c:pt>
                <c:pt idx="13">
                  <c:v>8</c:v>
                </c:pt>
                <c:pt idx="14">
                  <c:v>3</c:v>
                </c:pt>
                <c:pt idx="15">
                  <c:v>9</c:v>
                </c:pt>
                <c:pt idx="16">
                  <c:v>6</c:v>
                </c:pt>
                <c:pt idx="17">
                  <c:v>9</c:v>
                </c:pt>
                <c:pt idx="18">
                  <c:v>9</c:v>
                </c:pt>
                <c:pt idx="1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BF-43E5-BA05-42715F277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4984815"/>
        <c:axId val="1754985295"/>
      </c:lineChart>
      <c:catAx>
        <c:axId val="17549848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5295"/>
        <c:crosses val="autoZero"/>
        <c:auto val="1"/>
        <c:lblAlgn val="ctr"/>
        <c:lblOffset val="100"/>
        <c:noMultiLvlLbl val="0"/>
      </c:catAx>
      <c:valAx>
        <c:axId val="175498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481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1465356713679277E-2"/>
          <c:y val="2.3726305045202681E-2"/>
          <c:w val="0.20686581492488537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Efficiency Ratio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2225" cap="rnd">
            <a:solidFill>
              <a:srgbClr val="FF6699">
                <a:alpha val="98000"/>
              </a:srgbClr>
            </a:solidFill>
            <a:round/>
          </a:ln>
          <a:effectLst/>
        </c:spPr>
        <c:marker>
          <c:symbol val="circle"/>
          <c:size val="3"/>
          <c:spPr>
            <a:solidFill>
              <a:srgbClr val="0070C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1381986784725842E-2"/>
          <c:y val="0.19907407407407407"/>
          <c:w val="0.93852262630595318"/>
          <c:h val="0.69389690871974341"/>
        </c:manualLayout>
      </c:layout>
      <c:lineChart>
        <c:grouping val="standard"/>
        <c:varyColors val="0"/>
        <c:ser>
          <c:idx val="0"/>
          <c:order val="0"/>
          <c:tx>
            <c:strRef>
              <c:f>'task 3'!$R$67</c:f>
              <c:strCache>
                <c:ptCount val="1"/>
                <c:pt idx="0">
                  <c:v>Efficiency Ratio</c:v>
                </c:pt>
              </c:strCache>
            </c:strRef>
          </c:tx>
          <c:spPr>
            <a:ln w="22225" cap="rnd">
              <a:solidFill>
                <a:srgbClr val="FF6699">
                  <a:alpha val="98000"/>
                </a:srgbClr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0070C0"/>
              </a:solidFill>
              <a:ln w="15875">
                <a:noFill/>
                <a:round/>
              </a:ln>
              <a:effectLst/>
            </c:spPr>
          </c:marker>
          <c:cat>
            <c:strRef>
              <c:f>'task 3'!$Q$68:$Q$87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'task 3'!$R$68:$R$87</c:f>
              <c:numCache>
                <c:formatCode>General</c:formatCode>
                <c:ptCount val="20"/>
                <c:pt idx="0">
                  <c:v>0.61</c:v>
                </c:pt>
                <c:pt idx="1">
                  <c:v>2.16</c:v>
                </c:pt>
                <c:pt idx="2">
                  <c:v>0.57999999999999996</c:v>
                </c:pt>
                <c:pt idx="3">
                  <c:v>4.28</c:v>
                </c:pt>
                <c:pt idx="4">
                  <c:v>0.37</c:v>
                </c:pt>
                <c:pt idx="5">
                  <c:v>0.16</c:v>
                </c:pt>
                <c:pt idx="6">
                  <c:v>0.28000000000000003</c:v>
                </c:pt>
                <c:pt idx="7">
                  <c:v>0.24</c:v>
                </c:pt>
                <c:pt idx="8">
                  <c:v>0.6</c:v>
                </c:pt>
                <c:pt idx="9">
                  <c:v>0.67</c:v>
                </c:pt>
                <c:pt idx="10">
                  <c:v>0.96</c:v>
                </c:pt>
                <c:pt idx="11">
                  <c:v>0.9</c:v>
                </c:pt>
                <c:pt idx="12">
                  <c:v>0.93</c:v>
                </c:pt>
                <c:pt idx="13">
                  <c:v>2.2799999999999998</c:v>
                </c:pt>
                <c:pt idx="14">
                  <c:v>0.3</c:v>
                </c:pt>
                <c:pt idx="15">
                  <c:v>0.15</c:v>
                </c:pt>
                <c:pt idx="16">
                  <c:v>0.33</c:v>
                </c:pt>
                <c:pt idx="17">
                  <c:v>0.54</c:v>
                </c:pt>
                <c:pt idx="18">
                  <c:v>3.77</c:v>
                </c:pt>
                <c:pt idx="19">
                  <c:v>0.55000000000000004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E4-4478-8210-C3FCC7DE56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4984815"/>
        <c:axId val="1754985295"/>
      </c:lineChart>
      <c:catAx>
        <c:axId val="17549848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  <a:alpha val="49000"/>
                </a:sys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5295"/>
        <c:crosses val="autoZero"/>
        <c:auto val="1"/>
        <c:lblAlgn val="ctr"/>
        <c:lblOffset val="100"/>
        <c:noMultiLvlLbl val="0"/>
      </c:catAx>
      <c:valAx>
        <c:axId val="175498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481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1465356713679277E-2"/>
          <c:y val="2.3726305045202681E-2"/>
          <c:w val="0.20686581492488537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No of Agents Per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2225" cap="rnd">
            <a:solidFill>
              <a:srgbClr val="FF6699">
                <a:alpha val="98000"/>
              </a:srgbClr>
            </a:solidFill>
            <a:round/>
          </a:ln>
          <a:effectLst/>
        </c:spPr>
        <c:marker>
          <c:symbol val="circle"/>
          <c:size val="3"/>
          <c:spPr>
            <a:solidFill>
              <a:srgbClr val="0070C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1381986784725842E-2"/>
          <c:y val="0.19907407407407407"/>
          <c:w val="0.93852262630595318"/>
          <c:h val="0.69389690871974341"/>
        </c:manualLayout>
      </c:layout>
      <c:lineChart>
        <c:grouping val="standard"/>
        <c:varyColors val="0"/>
        <c:ser>
          <c:idx val="0"/>
          <c:order val="0"/>
          <c:tx>
            <c:strRef>
              <c:f>'task 3'!$B$69</c:f>
              <c:strCache>
                <c:ptCount val="1"/>
                <c:pt idx="0">
                  <c:v>agent_count</c:v>
                </c:pt>
              </c:strCache>
            </c:strRef>
          </c:tx>
          <c:spPr>
            <a:ln w="22225" cap="rnd">
              <a:solidFill>
                <a:srgbClr val="FF6699">
                  <a:alpha val="98000"/>
                </a:srgbClr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0070C0"/>
              </a:solidFill>
              <a:ln w="15875">
                <a:noFill/>
                <a:round/>
              </a:ln>
              <a:effectLst/>
            </c:spPr>
          </c:marker>
          <c:cat>
            <c:strRef>
              <c:f>'task 3'!$A$70:$A$87</c:f>
              <c:strCache>
                <c:ptCount val="18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R005</c:v>
                </c:pt>
                <c:pt idx="4">
                  <c:v>R006</c:v>
                </c:pt>
                <c:pt idx="5">
                  <c:v>R007</c:v>
                </c:pt>
                <c:pt idx="6">
                  <c:v>R008</c:v>
                </c:pt>
                <c:pt idx="7">
                  <c:v>R009</c:v>
                </c:pt>
                <c:pt idx="8">
                  <c:v>R010</c:v>
                </c:pt>
                <c:pt idx="9">
                  <c:v>R012</c:v>
                </c:pt>
                <c:pt idx="10">
                  <c:v>R013</c:v>
                </c:pt>
                <c:pt idx="11">
                  <c:v>R014</c:v>
                </c:pt>
                <c:pt idx="12">
                  <c:v>R015</c:v>
                </c:pt>
                <c:pt idx="13">
                  <c:v>R016</c:v>
                </c:pt>
                <c:pt idx="14">
                  <c:v>R017</c:v>
                </c:pt>
                <c:pt idx="15">
                  <c:v>R018</c:v>
                </c:pt>
                <c:pt idx="16">
                  <c:v>R019</c:v>
                </c:pt>
                <c:pt idx="17">
                  <c:v>R020</c:v>
                </c:pt>
              </c:strCache>
            </c:strRef>
          </c:cat>
          <c:val>
            <c:numRef>
              <c:f>'task 3'!$B$70:$B$87</c:f>
              <c:numCache>
                <c:formatCode>General</c:formatCode>
                <c:ptCount val="18"/>
                <c:pt idx="0">
                  <c:v>2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5</c:v>
                </c:pt>
                <c:pt idx="6">
                  <c:v>3</c:v>
                </c:pt>
                <c:pt idx="7">
                  <c:v>1</c:v>
                </c:pt>
                <c:pt idx="8">
                  <c:v>2</c:v>
                </c:pt>
                <c:pt idx="9">
                  <c:v>4</c:v>
                </c:pt>
                <c:pt idx="10">
                  <c:v>1</c:v>
                </c:pt>
                <c:pt idx="11">
                  <c:v>2</c:v>
                </c:pt>
                <c:pt idx="12">
                  <c:v>1</c:v>
                </c:pt>
                <c:pt idx="13">
                  <c:v>4</c:v>
                </c:pt>
                <c:pt idx="14">
                  <c:v>4</c:v>
                </c:pt>
                <c:pt idx="15">
                  <c:v>6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27-40A3-8EFD-53FEEBA8DC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4984815"/>
        <c:axId val="1754985295"/>
      </c:lineChart>
      <c:catAx>
        <c:axId val="17549848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  <a:alpha val="49000"/>
                </a:sys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5295"/>
        <c:crosses val="autoZero"/>
        <c:auto val="1"/>
        <c:lblAlgn val="ctr"/>
        <c:lblOffset val="100"/>
        <c:noMultiLvlLbl val="0"/>
      </c:catAx>
      <c:valAx>
        <c:axId val="175498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481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1465356713679277E-2"/>
          <c:y val="2.3726305045202681E-2"/>
          <c:w val="0.20686581492488537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Average Warehouse Processing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6699"/>
          </a:solidFill>
          <a:ln>
            <a:noFill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4 1'!$B$1</c:f>
              <c:strCache>
                <c:ptCount val="1"/>
                <c:pt idx="0">
                  <c:v>average_processing_time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E3B3784-C1AD-44B7-AF35-2FA4499C809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28A5-4113-81F1-F6D2D0E15FF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9835FD6-C84B-4F9F-AD5D-248A985A7E1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28A5-4113-81F1-F6D2D0E15FF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0BDBDBD-6E0B-4DC7-ACAB-7C15125245A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28A5-4113-81F1-F6D2D0E15F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4 1'!$A$2:$A$4</c:f>
              <c:strCache>
                <c:ptCount val="3"/>
                <c:pt idx="0">
                  <c:v>W010</c:v>
                </c:pt>
                <c:pt idx="1">
                  <c:v>W009</c:v>
                </c:pt>
                <c:pt idx="2">
                  <c:v>W007</c:v>
                </c:pt>
              </c:strCache>
            </c:strRef>
          </c:cat>
          <c:val>
            <c:numRef>
              <c:f>'task 4 1'!$B$2:$B$4</c:f>
              <c:numCache>
                <c:formatCode>General</c:formatCode>
                <c:ptCount val="3"/>
                <c:pt idx="0">
                  <c:v>171</c:v>
                </c:pt>
                <c:pt idx="1">
                  <c:v>170</c:v>
                </c:pt>
                <c:pt idx="2">
                  <c:v>166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'task 4 1'!$C$2:$C$4</c15:f>
                <c15:dlblRangeCache>
                  <c:ptCount val="3"/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28A5-4113-81F1-F6D2D0E15F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951470383"/>
        <c:axId val="1951460303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'task 4 1'!$C$1</c15:sqref>
                        </c15:formulaRef>
                      </c:ext>
                    </c:extLst>
                    <c:strCache>
                      <c:ptCount val="1"/>
                      <c:pt idx="0">
                        <c:v>top_ranking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'task 4 1'!$A$2:$A$4</c15:sqref>
                        </c15:formulaRef>
                      </c:ext>
                    </c:extLst>
                    <c:strCache>
                      <c:ptCount val="3"/>
                      <c:pt idx="0">
                        <c:v>W010</c:v>
                      </c:pt>
                      <c:pt idx="1">
                        <c:v>W009</c:v>
                      </c:pt>
                      <c:pt idx="2">
                        <c:v>W007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'task 4 1'!$C$2:$C$4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28A5-4113-81F1-F6D2D0E15FFB}"/>
                  </c:ext>
                </c:extLst>
              </c15:ser>
            </c15:filteredBarSeries>
          </c:ext>
        </c:extLst>
      </c:barChart>
      <c:catAx>
        <c:axId val="19514703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1460303"/>
        <c:crosses val="autoZero"/>
        <c:auto val="1"/>
        <c:lblAlgn val="ctr"/>
        <c:lblOffset val="100"/>
        <c:noMultiLvlLbl val="0"/>
      </c:catAx>
      <c:valAx>
        <c:axId val="1951460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1470383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1381986784725842E-2"/>
          <c:y val="0.19907407407407407"/>
          <c:w val="0.93852262630595318"/>
          <c:h val="0.69389690871974341"/>
        </c:manualLayout>
      </c:layout>
      <c:lineChart>
        <c:grouping val="standard"/>
        <c:varyColors val="0"/>
        <c:ser>
          <c:idx val="0"/>
          <c:order val="0"/>
          <c:tx>
            <c:strRef>
              <c:f>'task 4 2'!$B$1</c:f>
              <c:strCache>
                <c:ptCount val="1"/>
                <c:pt idx="0">
                  <c:v>delayed_shipments</c:v>
                </c:pt>
              </c:strCache>
            </c:strRef>
          </c:tx>
          <c:spPr>
            <a:ln w="2222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ysClr val="windowText" lastClr="000000">
                  <a:lumMod val="65000"/>
                  <a:lumOff val="35000"/>
                </a:sysClr>
              </a:solidFill>
              <a:ln w="15875">
                <a:noFill/>
                <a:round/>
              </a:ln>
              <a:effectLst/>
            </c:spPr>
          </c:marker>
          <c:cat>
            <c:strRef>
              <c:f>'task 4 2'!$A$2:$A$11</c:f>
              <c:strCache>
                <c:ptCount val="10"/>
                <c:pt idx="0">
                  <c:v>W004</c:v>
                </c:pt>
                <c:pt idx="1">
                  <c:v>W009</c:v>
                </c:pt>
                <c:pt idx="2">
                  <c:v>W008</c:v>
                </c:pt>
                <c:pt idx="3">
                  <c:v>W001</c:v>
                </c:pt>
                <c:pt idx="4">
                  <c:v>W006</c:v>
                </c:pt>
                <c:pt idx="5">
                  <c:v>W010</c:v>
                </c:pt>
                <c:pt idx="6">
                  <c:v>W007</c:v>
                </c:pt>
                <c:pt idx="7">
                  <c:v>W003</c:v>
                </c:pt>
                <c:pt idx="8">
                  <c:v>W005</c:v>
                </c:pt>
                <c:pt idx="9">
                  <c:v>W002</c:v>
                </c:pt>
              </c:strCache>
            </c:strRef>
          </c:cat>
          <c:val>
            <c:numRef>
              <c:f>'task 4 2'!$B$2:$B$11</c:f>
              <c:numCache>
                <c:formatCode>General</c:formatCode>
                <c:ptCount val="10"/>
                <c:pt idx="0">
                  <c:v>12</c:v>
                </c:pt>
                <c:pt idx="1">
                  <c:v>13</c:v>
                </c:pt>
                <c:pt idx="2">
                  <c:v>5</c:v>
                </c:pt>
                <c:pt idx="3">
                  <c:v>18</c:v>
                </c:pt>
                <c:pt idx="4">
                  <c:v>12</c:v>
                </c:pt>
                <c:pt idx="5">
                  <c:v>20</c:v>
                </c:pt>
                <c:pt idx="6">
                  <c:v>15</c:v>
                </c:pt>
                <c:pt idx="7">
                  <c:v>13</c:v>
                </c:pt>
                <c:pt idx="8">
                  <c:v>14</c:v>
                </c:pt>
                <c:pt idx="9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AC-4A92-A73B-470C6B8DAF20}"/>
            </c:ext>
          </c:extLst>
        </c:ser>
        <c:ser>
          <c:idx val="1"/>
          <c:order val="1"/>
          <c:tx>
            <c:strRef>
              <c:f>'task 4 2'!$C$1</c:f>
              <c:strCache>
                <c:ptCount val="1"/>
                <c:pt idx="0">
                  <c:v>total_shipments</c:v>
                </c:pt>
              </c:strCache>
            </c:strRef>
          </c:tx>
          <c:spPr>
            <a:ln w="22225" cap="rnd">
              <a:solidFill>
                <a:srgbClr val="FF6699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FF0000"/>
              </a:solidFill>
              <a:ln w="15875">
                <a:noFill/>
                <a:round/>
              </a:ln>
              <a:effectLst/>
            </c:spPr>
          </c:marker>
          <c:cat>
            <c:strRef>
              <c:f>'task 4 2'!$A$2:$A$11</c:f>
              <c:strCache>
                <c:ptCount val="10"/>
                <c:pt idx="0">
                  <c:v>W004</c:v>
                </c:pt>
                <c:pt idx="1">
                  <c:v>W009</c:v>
                </c:pt>
                <c:pt idx="2">
                  <c:v>W008</c:v>
                </c:pt>
                <c:pt idx="3">
                  <c:v>W001</c:v>
                </c:pt>
                <c:pt idx="4">
                  <c:v>W006</c:v>
                </c:pt>
                <c:pt idx="5">
                  <c:v>W010</c:v>
                </c:pt>
                <c:pt idx="6">
                  <c:v>W007</c:v>
                </c:pt>
                <c:pt idx="7">
                  <c:v>W003</c:v>
                </c:pt>
                <c:pt idx="8">
                  <c:v>W005</c:v>
                </c:pt>
                <c:pt idx="9">
                  <c:v>W002</c:v>
                </c:pt>
              </c:strCache>
            </c:strRef>
          </c:cat>
          <c:val>
            <c:numRef>
              <c:f>'task 4 2'!$C$2:$C$11</c:f>
              <c:numCache>
                <c:formatCode>General</c:formatCode>
                <c:ptCount val="10"/>
                <c:pt idx="0">
                  <c:v>31</c:v>
                </c:pt>
                <c:pt idx="1">
                  <c:v>33</c:v>
                </c:pt>
                <c:pt idx="2">
                  <c:v>21</c:v>
                </c:pt>
                <c:pt idx="3">
                  <c:v>34</c:v>
                </c:pt>
                <c:pt idx="4">
                  <c:v>37</c:v>
                </c:pt>
                <c:pt idx="5">
                  <c:v>30</c:v>
                </c:pt>
                <c:pt idx="6">
                  <c:v>38</c:v>
                </c:pt>
                <c:pt idx="7">
                  <c:v>23</c:v>
                </c:pt>
                <c:pt idx="8">
                  <c:v>25</c:v>
                </c:pt>
                <c:pt idx="9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AC-4A92-A73B-470C6B8DA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4984815"/>
        <c:axId val="1754985295"/>
      </c:lineChart>
      <c:catAx>
        <c:axId val="17549848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5295"/>
        <c:crosses val="autoZero"/>
        <c:auto val="1"/>
        <c:lblAlgn val="ctr"/>
        <c:lblOffset val="100"/>
        <c:noMultiLvlLbl val="0"/>
      </c:catAx>
      <c:valAx>
        <c:axId val="175498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481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1465356713679277E-2"/>
          <c:y val="2.3726305045202681E-2"/>
          <c:w val="0.30333440400024309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Warehouse with Higher then Global Avg Processing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'task 4 3'!$B$1</c:f>
              <c:strCache>
                <c:ptCount val="1"/>
                <c:pt idx="0">
                  <c:v>Processing_Time_Min</c:v>
                </c:pt>
              </c:strCache>
            </c:strRef>
          </c:tx>
          <c:spPr>
            <a:solidFill>
              <a:srgbClr val="FF3399"/>
            </a:solidFill>
            <a:ln>
              <a:noFill/>
            </a:ln>
            <a:effectLst/>
            <a:sp3d/>
          </c:spPr>
          <c:invertIfNegative val="0"/>
          <c:cat>
            <c:strRef>
              <c:f>'task 4 3'!$A$2:$A$6</c:f>
              <c:strCache>
                <c:ptCount val="5"/>
                <c:pt idx="0">
                  <c:v>W010</c:v>
                </c:pt>
                <c:pt idx="1">
                  <c:v>W009</c:v>
                </c:pt>
                <c:pt idx="2">
                  <c:v>W007</c:v>
                </c:pt>
                <c:pt idx="3">
                  <c:v>W008</c:v>
                </c:pt>
                <c:pt idx="4">
                  <c:v>W001</c:v>
                </c:pt>
              </c:strCache>
            </c:strRef>
          </c:cat>
          <c:val>
            <c:numRef>
              <c:f>'task 4 3'!$B$2:$B$6</c:f>
              <c:numCache>
                <c:formatCode>General</c:formatCode>
                <c:ptCount val="5"/>
                <c:pt idx="0">
                  <c:v>171</c:v>
                </c:pt>
                <c:pt idx="1">
                  <c:v>170</c:v>
                </c:pt>
                <c:pt idx="2">
                  <c:v>166</c:v>
                </c:pt>
                <c:pt idx="3">
                  <c:v>161</c:v>
                </c:pt>
                <c:pt idx="4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C7-475D-83FF-043AEDEA7023}"/>
            </c:ext>
          </c:extLst>
        </c:ser>
        <c:ser>
          <c:idx val="1"/>
          <c:order val="1"/>
          <c:tx>
            <c:strRef>
              <c:f>'task 4 3'!$C$1</c:f>
              <c:strCache>
                <c:ptCount val="1"/>
                <c:pt idx="0">
                  <c:v>more_by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  <a:sp3d/>
          </c:spPr>
          <c:invertIfNegative val="0"/>
          <c:cat>
            <c:strRef>
              <c:f>'task 4 3'!$A$2:$A$6</c:f>
              <c:strCache>
                <c:ptCount val="5"/>
                <c:pt idx="0">
                  <c:v>W010</c:v>
                </c:pt>
                <c:pt idx="1">
                  <c:v>W009</c:v>
                </c:pt>
                <c:pt idx="2">
                  <c:v>W007</c:v>
                </c:pt>
                <c:pt idx="3">
                  <c:v>W008</c:v>
                </c:pt>
                <c:pt idx="4">
                  <c:v>W001</c:v>
                </c:pt>
              </c:strCache>
            </c:strRef>
          </c:cat>
          <c:val>
            <c:numRef>
              <c:f>'task 4 3'!$C$2:$C$6</c:f>
              <c:numCache>
                <c:formatCode>General</c:formatCode>
                <c:ptCount val="5"/>
                <c:pt idx="0">
                  <c:v>60.9</c:v>
                </c:pt>
                <c:pt idx="1">
                  <c:v>59.9</c:v>
                </c:pt>
                <c:pt idx="2">
                  <c:v>55.9</c:v>
                </c:pt>
                <c:pt idx="3">
                  <c:v>50.9</c:v>
                </c:pt>
                <c:pt idx="4">
                  <c:v>31.9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C7-475D-83FF-043AEDEA7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25101887"/>
        <c:axId val="1825104287"/>
        <c:axId val="0"/>
      </c:bar3DChart>
      <c:catAx>
        <c:axId val="1825101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5104287"/>
        <c:crosses val="autoZero"/>
        <c:auto val="1"/>
        <c:lblAlgn val="ctr"/>
        <c:lblOffset val="100"/>
        <c:noMultiLvlLbl val="0"/>
      </c:catAx>
      <c:valAx>
        <c:axId val="182510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5101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[sql ppt (1).xlsx]task 5 1!PivotTable4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Best Ranking Agents By</a:t>
            </a:r>
            <a:r>
              <a:rPr lang="en-US" baseline="0" dirty="0"/>
              <a:t> Route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6699"/>
          </a:solidFill>
          <a:ln>
            <a:noFill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5 1'!$I$3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multiLvlStrRef>
              <c:f>'task 5 1'!$H$4:$H$40</c:f>
              <c:multiLvlStrCache>
                <c:ptCount val="18"/>
                <c:lvl>
                  <c:pt idx="0">
                    <c:v>A006</c:v>
                  </c:pt>
                  <c:pt idx="1">
                    <c:v>A033</c:v>
                  </c:pt>
                  <c:pt idx="2">
                    <c:v>A015</c:v>
                  </c:pt>
                  <c:pt idx="3">
                    <c:v>A029</c:v>
                  </c:pt>
                  <c:pt idx="4">
                    <c:v>A041</c:v>
                  </c:pt>
                  <c:pt idx="5">
                    <c:v>A014</c:v>
                  </c:pt>
                  <c:pt idx="6">
                    <c:v>A032</c:v>
                  </c:pt>
                  <c:pt idx="7">
                    <c:v>A045</c:v>
                  </c:pt>
                  <c:pt idx="8">
                    <c:v>A042</c:v>
                  </c:pt>
                  <c:pt idx="9">
                    <c:v>A009</c:v>
                  </c:pt>
                  <c:pt idx="10">
                    <c:v>A026</c:v>
                  </c:pt>
                  <c:pt idx="11">
                    <c:v>A030</c:v>
                  </c:pt>
                  <c:pt idx="12">
                    <c:v>A025</c:v>
                  </c:pt>
                  <c:pt idx="13">
                    <c:v>A005</c:v>
                  </c:pt>
                  <c:pt idx="14">
                    <c:v>A044</c:v>
                  </c:pt>
                  <c:pt idx="15">
                    <c:v>A007</c:v>
                  </c:pt>
                  <c:pt idx="16">
                    <c:v>A004</c:v>
                  </c:pt>
                  <c:pt idx="17">
                    <c:v>A036</c:v>
                  </c:pt>
                </c:lvl>
                <c:lvl>
                  <c:pt idx="0">
                    <c:v>R001</c:v>
                  </c:pt>
                  <c:pt idx="1">
                    <c:v>R002</c:v>
                  </c:pt>
                  <c:pt idx="2">
                    <c:v>R003</c:v>
                  </c:pt>
                  <c:pt idx="3">
                    <c:v>R005</c:v>
                  </c:pt>
                  <c:pt idx="4">
                    <c:v>R006</c:v>
                  </c:pt>
                  <c:pt idx="5">
                    <c:v>R007</c:v>
                  </c:pt>
                  <c:pt idx="6">
                    <c:v>R008</c:v>
                  </c:pt>
                  <c:pt idx="7">
                    <c:v>R009</c:v>
                  </c:pt>
                  <c:pt idx="8">
                    <c:v>R010</c:v>
                  </c:pt>
                  <c:pt idx="9">
                    <c:v>R012</c:v>
                  </c:pt>
                  <c:pt idx="10">
                    <c:v>R013</c:v>
                  </c:pt>
                  <c:pt idx="11">
                    <c:v>R014</c:v>
                  </c:pt>
                  <c:pt idx="12">
                    <c:v>R015</c:v>
                  </c:pt>
                  <c:pt idx="13">
                    <c:v>R016</c:v>
                  </c:pt>
                  <c:pt idx="14">
                    <c:v>R017</c:v>
                  </c:pt>
                  <c:pt idx="15">
                    <c:v>R018</c:v>
                  </c:pt>
                  <c:pt idx="16">
                    <c:v>R019</c:v>
                  </c:pt>
                  <c:pt idx="17">
                    <c:v>R020</c:v>
                  </c:pt>
                </c:lvl>
              </c:multiLvlStrCache>
            </c:multiLvlStrRef>
          </c:cat>
          <c:val>
            <c:numRef>
              <c:f>'task 5 1'!$I$4:$I$40</c:f>
              <c:numCache>
                <c:formatCode>General</c:formatCode>
                <c:ptCount val="18"/>
                <c:pt idx="0">
                  <c:v>81.56</c:v>
                </c:pt>
                <c:pt idx="1">
                  <c:v>98.01</c:v>
                </c:pt>
                <c:pt idx="2">
                  <c:v>83.31</c:v>
                </c:pt>
                <c:pt idx="3">
                  <c:v>81.709999999999994</c:v>
                </c:pt>
                <c:pt idx="4">
                  <c:v>91.47</c:v>
                </c:pt>
                <c:pt idx="5">
                  <c:v>99.9</c:v>
                </c:pt>
                <c:pt idx="6">
                  <c:v>99.32</c:v>
                </c:pt>
                <c:pt idx="7">
                  <c:v>95.08</c:v>
                </c:pt>
                <c:pt idx="8">
                  <c:v>93.37</c:v>
                </c:pt>
                <c:pt idx="9">
                  <c:v>92.27</c:v>
                </c:pt>
                <c:pt idx="10">
                  <c:v>84.01</c:v>
                </c:pt>
                <c:pt idx="11">
                  <c:v>76.599999999999994</c:v>
                </c:pt>
                <c:pt idx="12">
                  <c:v>93.94</c:v>
                </c:pt>
                <c:pt idx="13">
                  <c:v>90.04</c:v>
                </c:pt>
                <c:pt idx="14">
                  <c:v>92.15</c:v>
                </c:pt>
                <c:pt idx="15">
                  <c:v>99.11</c:v>
                </c:pt>
                <c:pt idx="16">
                  <c:v>98.25</c:v>
                </c:pt>
                <c:pt idx="17">
                  <c:v>87.21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55-43DA-B4DF-CDAE744A86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951470383"/>
        <c:axId val="1951460303"/>
      </c:barChart>
      <c:catAx>
        <c:axId val="19514703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1460303"/>
        <c:crosses val="autoZero"/>
        <c:auto val="1"/>
        <c:lblAlgn val="ctr"/>
        <c:lblOffset val="100"/>
        <c:noMultiLvlLbl val="0"/>
      </c:catAx>
      <c:valAx>
        <c:axId val="1951460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1470383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On Time</a:t>
            </a:r>
            <a:r>
              <a:rPr lang="en-US" baseline="0"/>
              <a:t> Delivery % vs Average Speed by Agent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'task 5 2'!$E$1</c:f>
              <c:strCache>
                <c:ptCount val="1"/>
                <c:pt idx="0">
                  <c:v>On_Time_Percentage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'task 5 2'!$A$2:$A$21</c:f>
              <c:strCache>
                <c:ptCount val="20"/>
                <c:pt idx="0">
                  <c:v>A003</c:v>
                </c:pt>
                <c:pt idx="1">
                  <c:v>A008</c:v>
                </c:pt>
                <c:pt idx="2">
                  <c:v>A010</c:v>
                </c:pt>
                <c:pt idx="3">
                  <c:v>A011</c:v>
                </c:pt>
                <c:pt idx="4">
                  <c:v>A016</c:v>
                </c:pt>
                <c:pt idx="5">
                  <c:v>A018</c:v>
                </c:pt>
                <c:pt idx="6">
                  <c:v>A020</c:v>
                </c:pt>
                <c:pt idx="7">
                  <c:v>A023</c:v>
                </c:pt>
                <c:pt idx="8">
                  <c:v>A027</c:v>
                </c:pt>
                <c:pt idx="9">
                  <c:v>A028</c:v>
                </c:pt>
                <c:pt idx="10">
                  <c:v>A030</c:v>
                </c:pt>
                <c:pt idx="11">
                  <c:v>A035</c:v>
                </c:pt>
                <c:pt idx="12">
                  <c:v>A037</c:v>
                </c:pt>
                <c:pt idx="13">
                  <c:v>A038</c:v>
                </c:pt>
                <c:pt idx="14">
                  <c:v>A039</c:v>
                </c:pt>
                <c:pt idx="15">
                  <c:v>A040</c:v>
                </c:pt>
                <c:pt idx="16">
                  <c:v>A043</c:v>
                </c:pt>
                <c:pt idx="17">
                  <c:v>A046</c:v>
                </c:pt>
                <c:pt idx="18">
                  <c:v>A048</c:v>
                </c:pt>
                <c:pt idx="19">
                  <c:v>A050</c:v>
                </c:pt>
              </c:strCache>
            </c:strRef>
          </c:cat>
          <c:val>
            <c:numRef>
              <c:f>'task 5 2'!$E$2:$E$21</c:f>
              <c:numCache>
                <c:formatCode>General</c:formatCode>
                <c:ptCount val="20"/>
                <c:pt idx="0">
                  <c:v>74.150000000000006</c:v>
                </c:pt>
                <c:pt idx="1">
                  <c:v>72.39</c:v>
                </c:pt>
                <c:pt idx="2">
                  <c:v>70.45</c:v>
                </c:pt>
                <c:pt idx="3">
                  <c:v>71.5</c:v>
                </c:pt>
                <c:pt idx="4">
                  <c:v>78.39</c:v>
                </c:pt>
                <c:pt idx="5">
                  <c:v>73.209999999999994</c:v>
                </c:pt>
                <c:pt idx="6">
                  <c:v>77.650000000000006</c:v>
                </c:pt>
                <c:pt idx="7">
                  <c:v>74.209999999999994</c:v>
                </c:pt>
                <c:pt idx="8">
                  <c:v>73.8</c:v>
                </c:pt>
                <c:pt idx="9">
                  <c:v>74.47</c:v>
                </c:pt>
                <c:pt idx="10">
                  <c:v>76.599999999999994</c:v>
                </c:pt>
                <c:pt idx="11">
                  <c:v>74.5</c:v>
                </c:pt>
                <c:pt idx="12">
                  <c:v>78.94</c:v>
                </c:pt>
                <c:pt idx="13">
                  <c:v>71.8</c:v>
                </c:pt>
                <c:pt idx="14">
                  <c:v>72.599999999999994</c:v>
                </c:pt>
                <c:pt idx="15">
                  <c:v>77.83</c:v>
                </c:pt>
                <c:pt idx="16">
                  <c:v>79.510000000000005</c:v>
                </c:pt>
                <c:pt idx="17">
                  <c:v>75.459999999999994</c:v>
                </c:pt>
                <c:pt idx="18">
                  <c:v>77.92</c:v>
                </c:pt>
                <c:pt idx="19">
                  <c:v>72.75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F6-4FAD-86C9-E8673EE30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axId val="412892175"/>
        <c:axId val="412884975"/>
      </c:barChart>
      <c:lineChart>
        <c:grouping val="standard"/>
        <c:varyColors val="0"/>
        <c:ser>
          <c:idx val="0"/>
          <c:order val="0"/>
          <c:tx>
            <c:strRef>
              <c:f>'task 5 2'!$D$1</c:f>
              <c:strCache>
                <c:ptCount val="1"/>
                <c:pt idx="0">
                  <c:v>Avg_Speed_KM_HR</c:v>
                </c:pt>
              </c:strCache>
            </c:strRef>
          </c:tx>
          <c:spPr>
            <a:ln w="22225" cap="rnd">
              <a:solidFill>
                <a:srgbClr val="FF6699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FF0000"/>
              </a:solidFill>
              <a:ln w="15875">
                <a:noFill/>
                <a:round/>
              </a:ln>
              <a:effectLst/>
            </c:spPr>
          </c:marker>
          <c:cat>
            <c:strRef>
              <c:f>'task 5 2'!$A$2:$A$21</c:f>
              <c:strCache>
                <c:ptCount val="20"/>
                <c:pt idx="0">
                  <c:v>A003</c:v>
                </c:pt>
                <c:pt idx="1">
                  <c:v>A008</c:v>
                </c:pt>
                <c:pt idx="2">
                  <c:v>A010</c:v>
                </c:pt>
                <c:pt idx="3">
                  <c:v>A011</c:v>
                </c:pt>
                <c:pt idx="4">
                  <c:v>A016</c:v>
                </c:pt>
                <c:pt idx="5">
                  <c:v>A018</c:v>
                </c:pt>
                <c:pt idx="6">
                  <c:v>A020</c:v>
                </c:pt>
                <c:pt idx="7">
                  <c:v>A023</c:v>
                </c:pt>
                <c:pt idx="8">
                  <c:v>A027</c:v>
                </c:pt>
                <c:pt idx="9">
                  <c:v>A028</c:v>
                </c:pt>
                <c:pt idx="10">
                  <c:v>A030</c:v>
                </c:pt>
                <c:pt idx="11">
                  <c:v>A035</c:v>
                </c:pt>
                <c:pt idx="12">
                  <c:v>A037</c:v>
                </c:pt>
                <c:pt idx="13">
                  <c:v>A038</c:v>
                </c:pt>
                <c:pt idx="14">
                  <c:v>A039</c:v>
                </c:pt>
                <c:pt idx="15">
                  <c:v>A040</c:v>
                </c:pt>
                <c:pt idx="16">
                  <c:v>A043</c:v>
                </c:pt>
                <c:pt idx="17">
                  <c:v>A046</c:v>
                </c:pt>
                <c:pt idx="18">
                  <c:v>A048</c:v>
                </c:pt>
                <c:pt idx="19">
                  <c:v>A050</c:v>
                </c:pt>
              </c:strCache>
            </c:strRef>
          </c:cat>
          <c:val>
            <c:numRef>
              <c:f>'task 5 2'!$D$2:$D$21</c:f>
              <c:numCache>
                <c:formatCode>General</c:formatCode>
                <c:ptCount val="20"/>
                <c:pt idx="0">
                  <c:v>72</c:v>
                </c:pt>
                <c:pt idx="1">
                  <c:v>32</c:v>
                </c:pt>
                <c:pt idx="2">
                  <c:v>76</c:v>
                </c:pt>
                <c:pt idx="3">
                  <c:v>59</c:v>
                </c:pt>
                <c:pt idx="4">
                  <c:v>67</c:v>
                </c:pt>
                <c:pt idx="5">
                  <c:v>75</c:v>
                </c:pt>
                <c:pt idx="6">
                  <c:v>69</c:v>
                </c:pt>
                <c:pt idx="7">
                  <c:v>59</c:v>
                </c:pt>
                <c:pt idx="8">
                  <c:v>69</c:v>
                </c:pt>
                <c:pt idx="9">
                  <c:v>33</c:v>
                </c:pt>
                <c:pt idx="10">
                  <c:v>73</c:v>
                </c:pt>
                <c:pt idx="11">
                  <c:v>48</c:v>
                </c:pt>
                <c:pt idx="12">
                  <c:v>47</c:v>
                </c:pt>
                <c:pt idx="13">
                  <c:v>55</c:v>
                </c:pt>
                <c:pt idx="14">
                  <c:v>62</c:v>
                </c:pt>
                <c:pt idx="15">
                  <c:v>51</c:v>
                </c:pt>
                <c:pt idx="16">
                  <c:v>60</c:v>
                </c:pt>
                <c:pt idx="17">
                  <c:v>36</c:v>
                </c:pt>
                <c:pt idx="18">
                  <c:v>32</c:v>
                </c:pt>
                <c:pt idx="19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F6-4FAD-86C9-E8673EE30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10381375"/>
        <c:axId val="410388575"/>
      </c:lineChart>
      <c:catAx>
        <c:axId val="4128921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884975"/>
        <c:crosses val="autoZero"/>
        <c:auto val="1"/>
        <c:lblAlgn val="ctr"/>
        <c:lblOffset val="100"/>
        <c:noMultiLvlLbl val="0"/>
      </c:catAx>
      <c:valAx>
        <c:axId val="412884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892175"/>
        <c:crosses val="autoZero"/>
        <c:crossBetween val="between"/>
      </c:valAx>
      <c:valAx>
        <c:axId val="4103885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0381375"/>
        <c:crosses val="max"/>
        <c:crossBetween val="between"/>
      </c:valAx>
      <c:catAx>
        <c:axId val="4103813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10388575"/>
        <c:crosses val="autoZero"/>
        <c:auto val="1"/>
        <c:lblAlgn val="ctr"/>
        <c:lblOffset val="100"/>
        <c:noMultiLvlLbl val="0"/>
      </c:cat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'task 5 3'!$B$1</c:f>
              <c:strCache>
                <c:ptCount val="1"/>
                <c:pt idx="0">
                  <c:v>Avg_Speed_KM_HR</c:v>
                </c:pt>
              </c:strCache>
            </c:strRef>
          </c:tx>
          <c:spPr>
            <a:ln w="15875" cap="rnd">
              <a:solidFill>
                <a:srgbClr val="FF6699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FF0000"/>
              </a:solidFill>
              <a:ln w="15875">
                <a:noFill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'task 5 3'!$A$2:$A$11</c:f>
              <c:strCache>
                <c:ptCount val="10"/>
                <c:pt idx="0">
                  <c:v>A013</c:v>
                </c:pt>
                <c:pt idx="1">
                  <c:v>A031</c:v>
                </c:pt>
                <c:pt idx="2">
                  <c:v>A047</c:v>
                </c:pt>
                <c:pt idx="3">
                  <c:v>A001</c:v>
                </c:pt>
                <c:pt idx="4">
                  <c:v>A041</c:v>
                </c:pt>
                <c:pt idx="5">
                  <c:v>A046</c:v>
                </c:pt>
                <c:pt idx="6">
                  <c:v>A012</c:v>
                </c:pt>
                <c:pt idx="7">
                  <c:v>A028</c:v>
                </c:pt>
                <c:pt idx="8">
                  <c:v>A008</c:v>
                </c:pt>
                <c:pt idx="9">
                  <c:v>A048</c:v>
                </c:pt>
              </c:strCache>
            </c:strRef>
          </c:xVal>
          <c:yVal>
            <c:numRef>
              <c:f>'task 5 3'!$B$2:$B$6</c:f>
              <c:numCache>
                <c:formatCode>General</c:formatCode>
                <c:ptCount val="5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78</c:v>
                </c:pt>
                <c:pt idx="4">
                  <c:v>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744-4507-9621-C8D8D45B2F26}"/>
            </c:ext>
          </c:extLst>
        </c:ser>
        <c:ser>
          <c:idx val="1"/>
          <c:order val="1"/>
          <c:tx>
            <c:strRef>
              <c:f>'task 5 3'!$A$7:$A$11</c:f>
              <c:strCache>
                <c:ptCount val="5"/>
                <c:pt idx="0">
                  <c:v>A046</c:v>
                </c:pt>
                <c:pt idx="1">
                  <c:v>A012</c:v>
                </c:pt>
                <c:pt idx="2">
                  <c:v>A028</c:v>
                </c:pt>
                <c:pt idx="3">
                  <c:v>A008</c:v>
                </c:pt>
                <c:pt idx="4">
                  <c:v>A048</c:v>
                </c:pt>
              </c:strCache>
            </c:strRef>
          </c:tx>
          <c:spPr>
            <a:ln w="158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accent5">
                  <a:lumMod val="75000"/>
                </a:schemeClr>
              </a:solidFill>
              <a:ln w="15875">
                <a:noFill/>
                <a:round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51AAFE5B-4F4E-477C-8C8E-854986CD132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3744-4507-9621-C8D8D45B2F2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6B4A4E4-88FE-4BB1-B680-E11D1E875D5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3744-4507-9621-C8D8D45B2F2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9334D4C-6636-4BC5-9E27-7E529BA417F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3744-4507-9621-C8D8D45B2F2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EF043EC-F60A-488F-9559-2D0C637FE36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3744-4507-9621-C8D8D45B2F2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9846DB4D-2735-438F-A3AD-6D97200464F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3744-4507-9621-C8D8D45B2F2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'task 5 3'!$A$2:$A$11</c:f>
              <c:strCache>
                <c:ptCount val="10"/>
                <c:pt idx="0">
                  <c:v>A013</c:v>
                </c:pt>
                <c:pt idx="1">
                  <c:v>A031</c:v>
                </c:pt>
                <c:pt idx="2">
                  <c:v>A047</c:v>
                </c:pt>
                <c:pt idx="3">
                  <c:v>A001</c:v>
                </c:pt>
                <c:pt idx="4">
                  <c:v>A041</c:v>
                </c:pt>
                <c:pt idx="5">
                  <c:v>A046</c:v>
                </c:pt>
                <c:pt idx="6">
                  <c:v>A012</c:v>
                </c:pt>
                <c:pt idx="7">
                  <c:v>A028</c:v>
                </c:pt>
                <c:pt idx="8">
                  <c:v>A008</c:v>
                </c:pt>
                <c:pt idx="9">
                  <c:v>A048</c:v>
                </c:pt>
              </c:strCache>
            </c:strRef>
          </c:xVal>
          <c:yVal>
            <c:numRef>
              <c:f>'task 5 3'!$B$7:$B$11</c:f>
              <c:numCache>
                <c:formatCode>General</c:formatCode>
                <c:ptCount val="5"/>
                <c:pt idx="0">
                  <c:v>36</c:v>
                </c:pt>
                <c:pt idx="1">
                  <c:v>35</c:v>
                </c:pt>
                <c:pt idx="2">
                  <c:v>33</c:v>
                </c:pt>
                <c:pt idx="3">
                  <c:v>32</c:v>
                </c:pt>
                <c:pt idx="4">
                  <c:v>32</c:v>
                </c:pt>
              </c:numCache>
            </c:numRef>
          </c:yVal>
          <c:smooth val="1"/>
          <c:extLst>
            <c:ext xmlns:c15="http://schemas.microsoft.com/office/drawing/2012/chart" uri="{02D57815-91ED-43cb-92C2-25804820EDAC}">
              <c15:datalabelsRange>
                <c15:f>'task 5 3'!$A$7:$A$11</c15:f>
                <c15:dlblRangeCache>
                  <c:ptCount val="5"/>
                  <c:pt idx="0">
                    <c:v>A046</c:v>
                  </c:pt>
                  <c:pt idx="1">
                    <c:v>A012</c:v>
                  </c:pt>
                  <c:pt idx="2">
                    <c:v>A028</c:v>
                  </c:pt>
                  <c:pt idx="3">
                    <c:v>A008</c:v>
                  </c:pt>
                  <c:pt idx="4">
                    <c:v>A048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3744-4507-9621-C8D8D45B2F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0645759"/>
        <c:axId val="460641919"/>
      </c:scatterChart>
      <c:valAx>
        <c:axId val="460645759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460641919"/>
        <c:crosses val="autoZero"/>
        <c:crossBetween val="midCat"/>
      </c:valAx>
      <c:valAx>
        <c:axId val="460641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0645759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baseline="0"/>
              <a:t>Reasons For Delay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00B0F0"/>
          </a:solidFill>
          <a:ln>
            <a:noFill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'task 6 2'!$B$1</c:f>
              <c:strCache>
                <c:ptCount val="1"/>
                <c:pt idx="0">
                  <c:v>reason_count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'task 6 2'!$A$2:$A$4</c:f>
              <c:strCache>
                <c:ptCount val="3"/>
                <c:pt idx="0">
                  <c:v>Sorting Delay</c:v>
                </c:pt>
                <c:pt idx="1">
                  <c:v>Weather</c:v>
                </c:pt>
                <c:pt idx="2">
                  <c:v>Traffic</c:v>
                </c:pt>
              </c:strCache>
            </c:strRef>
          </c:cat>
          <c:val>
            <c:numRef>
              <c:f>'task 6 2'!$B$2:$B$4</c:f>
              <c:numCache>
                <c:formatCode>General</c:formatCode>
                <c:ptCount val="3"/>
                <c:pt idx="0">
                  <c:v>272</c:v>
                </c:pt>
                <c:pt idx="1">
                  <c:v>263</c:v>
                </c:pt>
                <c:pt idx="2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51-45C8-98E8-FDB6AE4DBF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axId val="1825379311"/>
        <c:axId val="1825385071"/>
      </c:barChart>
      <c:catAx>
        <c:axId val="1825379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5385071"/>
        <c:crosses val="autoZero"/>
        <c:auto val="1"/>
        <c:lblAlgn val="ctr"/>
        <c:lblOffset val="100"/>
        <c:noMultiLvlLbl val="0"/>
      </c:catAx>
      <c:valAx>
        <c:axId val="18253850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5379311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[sql ppt (1).xlsx]task 6 3!PivotTable6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6699"/>
          </a:solidFill>
          <a:ln>
            <a:noFill/>
          </a:ln>
          <a:effectLst/>
        </c:spPr>
        <c:marker>
          <c:spPr>
            <a:solidFill>
              <a:srgbClr val="FF6699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3399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lumMod val="60000"/>
              <a:lumOff val="40000"/>
            </a:schemeClr>
          </a:solidFill>
          <a:ln w="25400">
            <a:noFill/>
          </a:ln>
          <a:effectLst/>
        </c:spPr>
      </c:pivotFmt>
      <c:pivotFmt>
        <c:idx val="3"/>
        <c:spPr>
          <a:solidFill>
            <a:srgbClr val="FFFF00"/>
          </a:solidFill>
          <a:ln w="25400">
            <a:noFill/>
          </a:ln>
          <a:effectLst/>
        </c:spPr>
      </c:pivotFmt>
      <c:pivotFmt>
        <c:idx val="4"/>
        <c:spPr>
          <a:solidFill>
            <a:srgbClr val="FF3399"/>
          </a:solidFill>
          <a:ln w="25400">
            <a:noFill/>
          </a:ln>
          <a:effectLst/>
        </c:spPr>
      </c:pivotFmt>
      <c:pivotFmt>
        <c:idx val="5"/>
        <c:spPr>
          <a:solidFill>
            <a:srgbClr val="FF3399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E97132"/>
          </a:solidFill>
          <a:ln w="25400">
            <a:noFill/>
          </a:ln>
          <a:effectLst/>
        </c:spPr>
      </c:pivotFmt>
      <c:pivotFmt>
        <c:idx val="7"/>
        <c:spPr>
          <a:solidFill>
            <a:srgbClr val="FFFF00"/>
          </a:solidFill>
          <a:ln w="25400">
            <a:noFill/>
          </a:ln>
          <a:effectLst/>
        </c:spPr>
      </c:pivotFmt>
      <c:pivotFmt>
        <c:idx val="8"/>
        <c:spPr>
          <a:solidFill>
            <a:schemeClr val="accent1">
              <a:lumMod val="60000"/>
              <a:lumOff val="40000"/>
            </a:schemeClr>
          </a:solidFill>
          <a:ln w="25400">
            <a:noFill/>
          </a:ln>
          <a:effectLst/>
        </c:spPr>
      </c:pivotFmt>
      <c:pivotFmt>
        <c:idx val="9"/>
        <c:spPr>
          <a:solidFill>
            <a:srgbClr val="A02B93">
              <a:lumMod val="75000"/>
            </a:srgbClr>
          </a:solidFill>
          <a:ln w="25400">
            <a:noFill/>
          </a:ln>
          <a:effectLst/>
        </c:spPr>
      </c:pivotFmt>
      <c:pivotFmt>
        <c:idx val="10"/>
        <c:spPr>
          <a:solidFill>
            <a:srgbClr val="FF3399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E97132"/>
          </a:solidFill>
          <a:ln w="25400">
            <a:noFill/>
          </a:ln>
          <a:effectLst/>
        </c:spPr>
      </c:pivotFmt>
      <c:pivotFmt>
        <c:idx val="12"/>
        <c:spPr>
          <a:solidFill>
            <a:srgbClr val="FFFF00"/>
          </a:solidFill>
          <a:ln w="25400">
            <a:noFill/>
          </a:ln>
          <a:effectLst/>
        </c:spPr>
      </c:pivotFmt>
      <c:pivotFmt>
        <c:idx val="13"/>
        <c:spPr>
          <a:solidFill>
            <a:schemeClr val="accent1">
              <a:lumMod val="60000"/>
              <a:lumOff val="40000"/>
            </a:schemeClr>
          </a:solidFill>
          <a:ln w="25400">
            <a:noFill/>
          </a:ln>
          <a:effectLst/>
        </c:spPr>
      </c:pivotFmt>
      <c:pivotFmt>
        <c:idx val="14"/>
        <c:spPr>
          <a:solidFill>
            <a:srgbClr val="FF3399"/>
          </a:solidFill>
          <a:ln w="25400">
            <a:noFill/>
          </a:ln>
          <a:effectLst/>
        </c:spPr>
      </c:pivotFmt>
      <c:pivotFmt>
        <c:idx val="15"/>
        <c:spPr>
          <a:solidFill>
            <a:srgbClr val="A02B93">
              <a:lumMod val="75000"/>
            </a:srgbClr>
          </a:solidFill>
          <a:ln w="25400">
            <a:noFill/>
          </a:ln>
          <a:effectLst/>
        </c:spPr>
      </c:pivotFmt>
      <c:pivotFmt>
        <c:idx val="16"/>
        <c:spPr>
          <a:solidFill>
            <a:srgbClr val="FF3399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E97132"/>
          </a:solidFill>
          <a:ln w="25400">
            <a:noFill/>
          </a:ln>
          <a:effectLst/>
        </c:spPr>
      </c:pivotFmt>
      <c:pivotFmt>
        <c:idx val="18"/>
        <c:spPr>
          <a:solidFill>
            <a:srgbClr val="FFFF00"/>
          </a:solidFill>
          <a:ln w="25400">
            <a:noFill/>
          </a:ln>
          <a:effectLst/>
        </c:spPr>
      </c:pivotFmt>
      <c:pivotFmt>
        <c:idx val="19"/>
        <c:spPr>
          <a:solidFill>
            <a:schemeClr val="accent1">
              <a:lumMod val="60000"/>
              <a:lumOff val="40000"/>
            </a:schemeClr>
          </a:solidFill>
          <a:ln w="25400">
            <a:noFill/>
          </a:ln>
          <a:effectLst/>
        </c:spPr>
      </c:pivotFmt>
      <c:pivotFmt>
        <c:idx val="20"/>
        <c:spPr>
          <a:solidFill>
            <a:srgbClr val="FF3399"/>
          </a:solidFill>
          <a:ln w="25400">
            <a:noFill/>
          </a:ln>
          <a:effectLst/>
        </c:spPr>
      </c:pivotFmt>
      <c:pivotFmt>
        <c:idx val="21"/>
        <c:spPr>
          <a:solidFill>
            <a:srgbClr val="A02B93">
              <a:lumMod val="75000"/>
            </a:srgbClr>
          </a:solidFill>
          <a:ln w="25400"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'task 6 3'!$E$9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3399"/>
            </a:solidFill>
            <a:ln w="25400">
              <a:noFill/>
            </a:ln>
          </c:spPr>
          <c:dPt>
            <c:idx val="0"/>
            <c:bubble3D val="0"/>
            <c:spPr>
              <a:solidFill>
                <a:srgbClr val="E97132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530-4B4B-ABA7-1907035943F2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530-4B4B-ABA7-1907035943F2}"/>
              </c:ext>
            </c:extLst>
          </c:dPt>
          <c:dPt>
            <c:idx val="2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530-4B4B-ABA7-1907035943F2}"/>
              </c:ext>
            </c:extLst>
          </c:dPt>
          <c:dPt>
            <c:idx val="3"/>
            <c:bubble3D val="0"/>
            <c:spPr>
              <a:solidFill>
                <a:srgbClr val="FF3399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530-4B4B-ABA7-1907035943F2}"/>
              </c:ext>
            </c:extLst>
          </c:dPt>
          <c:dPt>
            <c:idx val="4"/>
            <c:bubble3D val="0"/>
            <c:spPr>
              <a:solidFill>
                <a:srgbClr val="A02B93">
                  <a:lumMod val="75000"/>
                </a:srgb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530-4B4B-ABA7-1907035943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'task 6 3'!$D$10:$D$15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'task 6 3'!$E$10:$E$15</c:f>
              <c:numCache>
                <c:formatCode>General</c:formatCode>
                <c:ptCount val="5"/>
                <c:pt idx="0">
                  <c:v>38</c:v>
                </c:pt>
                <c:pt idx="1">
                  <c:v>104</c:v>
                </c:pt>
                <c:pt idx="2">
                  <c:v>81</c:v>
                </c:pt>
                <c:pt idx="3">
                  <c:v>57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530-4B4B-ABA7-190703594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solidFill>
          <a:schemeClr val="lt1"/>
        </a:solid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2347766490503971"/>
          <c:y val="0.87942038495188102"/>
          <c:w val="0.15589048467587585"/>
          <c:h val="9.08581219014289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average_delay_days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2225" cap="rnd">
            <a:solidFill>
              <a:srgbClr val="FF6699">
                <a:alpha val="98000"/>
              </a:srgbClr>
            </a:solidFill>
            <a:round/>
          </a:ln>
          <a:effectLst/>
        </c:spPr>
        <c:marker>
          <c:symbol val="circle"/>
          <c:size val="3"/>
          <c:spPr>
            <a:solidFill>
              <a:srgbClr val="0070C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1381986784725842E-2"/>
          <c:y val="0.11178159400213605"/>
          <c:w val="0.93852262630595318"/>
          <c:h val="0.5312130552941301"/>
        </c:manualLayout>
      </c:layout>
      <c:lineChart>
        <c:grouping val="standard"/>
        <c:varyColors val="0"/>
        <c:ser>
          <c:idx val="0"/>
          <c:order val="0"/>
          <c:tx>
            <c:strRef>
              <c:f>'task 7 1'!$B$1</c:f>
              <c:strCache>
                <c:ptCount val="1"/>
                <c:pt idx="0">
                  <c:v>average_delay_days</c:v>
                </c:pt>
              </c:strCache>
            </c:strRef>
          </c:tx>
          <c:spPr>
            <a:ln w="22225" cap="rnd">
              <a:solidFill>
                <a:srgbClr val="FF6699">
                  <a:alpha val="98000"/>
                </a:srgbClr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00B0F0"/>
              </a:solidFill>
              <a:ln w="15875">
                <a:noFill/>
                <a:round/>
              </a:ln>
              <a:effectLst/>
            </c:spPr>
          </c:marker>
          <c:cat>
            <c:strRef>
              <c:f>'task 7 1'!$A$2:$A$21</c:f>
              <c:strCache>
                <c:ptCount val="20"/>
                <c:pt idx="0">
                  <c:v>Ramosside</c:v>
                </c:pt>
                <c:pt idx="1">
                  <c:v>South Johnville</c:v>
                </c:pt>
                <c:pt idx="2">
                  <c:v>New Jessica</c:v>
                </c:pt>
                <c:pt idx="3">
                  <c:v>West Calvinview</c:v>
                </c:pt>
                <c:pt idx="4">
                  <c:v>Juliestad</c:v>
                </c:pt>
                <c:pt idx="5">
                  <c:v>South Davidborough</c:v>
                </c:pt>
                <c:pt idx="6">
                  <c:v>Lowemouth</c:v>
                </c:pt>
                <c:pt idx="7">
                  <c:v>North Edward</c:v>
                </c:pt>
                <c:pt idx="8">
                  <c:v>South Brianchester</c:v>
                </c:pt>
                <c:pt idx="9">
                  <c:v>Aaronhaven</c:v>
                </c:pt>
                <c:pt idx="10">
                  <c:v>South Jenniferfurt</c:v>
                </c:pt>
                <c:pt idx="11">
                  <c:v>Bellfurt</c:v>
                </c:pt>
                <c:pt idx="12">
                  <c:v>Port Tammybury</c:v>
                </c:pt>
                <c:pt idx="13">
                  <c:v>Lake Oscarfurt</c:v>
                </c:pt>
                <c:pt idx="14">
                  <c:v>Lake Robinhaven</c:v>
                </c:pt>
                <c:pt idx="15">
                  <c:v>Lake Jessicastad</c:v>
                </c:pt>
                <c:pt idx="16">
                  <c:v>East Amy</c:v>
                </c:pt>
                <c:pt idx="17">
                  <c:v>Lake Kathrynchester</c:v>
                </c:pt>
                <c:pt idx="18">
                  <c:v>North Aliceside</c:v>
                </c:pt>
                <c:pt idx="19">
                  <c:v>New Aimeechester</c:v>
                </c:pt>
              </c:strCache>
            </c:strRef>
          </c:cat>
          <c:val>
            <c:numRef>
              <c:f>'task 7 1'!$B$2:$B$21</c:f>
              <c:numCache>
                <c:formatCode>General</c:formatCode>
                <c:ptCount val="20"/>
                <c:pt idx="0">
                  <c:v>1.6</c:v>
                </c:pt>
                <c:pt idx="1">
                  <c:v>1.4</c:v>
                </c:pt>
                <c:pt idx="2">
                  <c:v>1.7</c:v>
                </c:pt>
                <c:pt idx="3">
                  <c:v>1.6</c:v>
                </c:pt>
                <c:pt idx="4">
                  <c:v>1.5</c:v>
                </c:pt>
                <c:pt idx="5">
                  <c:v>1.4</c:v>
                </c:pt>
                <c:pt idx="6">
                  <c:v>1.6</c:v>
                </c:pt>
                <c:pt idx="7">
                  <c:v>1.6</c:v>
                </c:pt>
                <c:pt idx="8">
                  <c:v>1.6</c:v>
                </c:pt>
                <c:pt idx="9">
                  <c:v>1.6</c:v>
                </c:pt>
                <c:pt idx="10">
                  <c:v>2</c:v>
                </c:pt>
                <c:pt idx="11">
                  <c:v>1.3</c:v>
                </c:pt>
                <c:pt idx="12">
                  <c:v>1.8</c:v>
                </c:pt>
                <c:pt idx="13">
                  <c:v>2</c:v>
                </c:pt>
                <c:pt idx="14">
                  <c:v>1.5</c:v>
                </c:pt>
                <c:pt idx="15">
                  <c:v>1.2</c:v>
                </c:pt>
                <c:pt idx="16">
                  <c:v>1.3</c:v>
                </c:pt>
                <c:pt idx="17">
                  <c:v>1.7</c:v>
                </c:pt>
                <c:pt idx="18">
                  <c:v>1.6</c:v>
                </c:pt>
                <c:pt idx="19">
                  <c:v>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86-483C-9952-3903893261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4984815"/>
        <c:axId val="1754985295"/>
      </c:lineChart>
      <c:catAx>
        <c:axId val="17549848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  <a:alpha val="49000"/>
                </a:sys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00" b="0" i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5295"/>
        <c:crosses val="autoZero"/>
        <c:auto val="1"/>
        <c:lblAlgn val="ctr"/>
        <c:lblOffset val="100"/>
        <c:noMultiLvlLbl val="0"/>
      </c:catAx>
      <c:valAx>
        <c:axId val="175498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481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1465356713679277E-2"/>
          <c:y val="2.3726305045202681E-2"/>
          <c:w val="0.24077772184130833"/>
          <c:h val="5.88862922583988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on_time_delivery_per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2225" cap="rnd">
            <a:solidFill>
              <a:srgbClr val="00B0F0"/>
            </a:solidFill>
            <a:round/>
          </a:ln>
          <a:effectLst/>
        </c:spPr>
        <c:marker>
          <c:symbol val="circle"/>
          <c:size val="3"/>
          <c:spPr>
            <a:solidFill>
              <a:schemeClr val="tx1">
                <a:lumMod val="85000"/>
                <a:lumOff val="15000"/>
              </a:schemeClr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rgbClr val="FF6699"/>
            </a:solidFill>
            <a:round/>
          </a:ln>
          <a:effectLst/>
        </c:spPr>
        <c:marker>
          <c:symbol val="circle"/>
          <c:size val="3"/>
          <c:spPr>
            <a:solidFill>
              <a:srgbClr val="FF0000"/>
            </a:solidFill>
            <a:ln w="15875">
              <a:noFill/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5347302024818112E-2"/>
          <c:y val="0.12953904047730572"/>
          <c:w val="0.93852262630595318"/>
          <c:h val="0.69389690871974341"/>
        </c:manualLayout>
      </c:layout>
      <c:lineChart>
        <c:grouping val="standard"/>
        <c:varyColors val="0"/>
        <c:ser>
          <c:idx val="0"/>
          <c:order val="0"/>
          <c:tx>
            <c:strRef>
              <c:f>'task 7 2'!$B$1</c:f>
              <c:strCache>
                <c:ptCount val="1"/>
                <c:pt idx="0">
                  <c:v>on_time_delivery_per</c:v>
                </c:pt>
              </c:strCache>
            </c:strRef>
          </c:tx>
          <c:spPr>
            <a:ln w="2222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FF6699"/>
              </a:solidFill>
              <a:ln w="15875">
                <a:noFill/>
                <a:round/>
              </a:ln>
              <a:effectLst/>
            </c:spPr>
          </c:marker>
          <c:cat>
            <c:strRef>
              <c:f>'task 7 2'!$A$2:$A$21</c:f>
              <c:strCache>
                <c:ptCount val="20"/>
                <c:pt idx="0">
                  <c:v>R016</c:v>
                </c:pt>
                <c:pt idx="1">
                  <c:v>R019</c:v>
                </c:pt>
                <c:pt idx="2">
                  <c:v>R008</c:v>
                </c:pt>
                <c:pt idx="3">
                  <c:v>R002</c:v>
                </c:pt>
                <c:pt idx="4">
                  <c:v>R006</c:v>
                </c:pt>
                <c:pt idx="5">
                  <c:v>R009</c:v>
                </c:pt>
                <c:pt idx="6">
                  <c:v>R014</c:v>
                </c:pt>
                <c:pt idx="7">
                  <c:v>R003</c:v>
                </c:pt>
                <c:pt idx="8">
                  <c:v>R001</c:v>
                </c:pt>
                <c:pt idx="9">
                  <c:v>R018</c:v>
                </c:pt>
                <c:pt idx="10">
                  <c:v>R007</c:v>
                </c:pt>
                <c:pt idx="11">
                  <c:v>R011</c:v>
                </c:pt>
                <c:pt idx="12">
                  <c:v>R010</c:v>
                </c:pt>
                <c:pt idx="13">
                  <c:v>R005</c:v>
                </c:pt>
                <c:pt idx="14">
                  <c:v>R004</c:v>
                </c:pt>
                <c:pt idx="15">
                  <c:v>R015</c:v>
                </c:pt>
                <c:pt idx="16">
                  <c:v>R013</c:v>
                </c:pt>
                <c:pt idx="17">
                  <c:v>R017</c:v>
                </c:pt>
                <c:pt idx="18">
                  <c:v>R012</c:v>
                </c:pt>
                <c:pt idx="19">
                  <c:v>R020</c:v>
                </c:pt>
              </c:strCache>
            </c:strRef>
          </c:cat>
          <c:val>
            <c:numRef>
              <c:f>'task 7 2'!$B$2:$B$21</c:f>
              <c:numCache>
                <c:formatCode>General</c:formatCode>
                <c:ptCount val="20"/>
                <c:pt idx="0">
                  <c:v>75</c:v>
                </c:pt>
                <c:pt idx="1">
                  <c:v>69.23</c:v>
                </c:pt>
                <c:pt idx="2">
                  <c:v>68.75</c:v>
                </c:pt>
                <c:pt idx="3">
                  <c:v>68.180000000000007</c:v>
                </c:pt>
                <c:pt idx="4">
                  <c:v>63.64</c:v>
                </c:pt>
                <c:pt idx="5">
                  <c:v>62.5</c:v>
                </c:pt>
                <c:pt idx="6">
                  <c:v>61.54</c:v>
                </c:pt>
                <c:pt idx="7">
                  <c:v>60</c:v>
                </c:pt>
                <c:pt idx="8">
                  <c:v>60</c:v>
                </c:pt>
                <c:pt idx="9">
                  <c:v>60</c:v>
                </c:pt>
                <c:pt idx="10">
                  <c:v>56.25</c:v>
                </c:pt>
                <c:pt idx="11">
                  <c:v>55</c:v>
                </c:pt>
                <c:pt idx="12">
                  <c:v>55</c:v>
                </c:pt>
                <c:pt idx="13">
                  <c:v>53.33</c:v>
                </c:pt>
                <c:pt idx="14">
                  <c:v>50</c:v>
                </c:pt>
                <c:pt idx="15">
                  <c:v>50</c:v>
                </c:pt>
                <c:pt idx="16">
                  <c:v>47.06</c:v>
                </c:pt>
                <c:pt idx="17">
                  <c:v>42.86</c:v>
                </c:pt>
                <c:pt idx="18">
                  <c:v>33.33</c:v>
                </c:pt>
                <c:pt idx="19">
                  <c:v>29.41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98-4D2C-B34A-45F32C31C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4984815"/>
        <c:axId val="1754985295"/>
      </c:lineChart>
      <c:catAx>
        <c:axId val="17549848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5295"/>
        <c:crosses val="autoZero"/>
        <c:auto val="1"/>
        <c:lblAlgn val="ctr"/>
        <c:lblOffset val="100"/>
        <c:noMultiLvlLbl val="0"/>
      </c:catAx>
      <c:valAx>
        <c:axId val="175498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498481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lt1"/>
    </a:solidFill>
    <a:ln w="9525" cap="flat" cmpd="sng" algn="ctr">
      <a:solidFill>
        <a:srgbClr val="FF6699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'task 4 4'!$A$2:$A$11</cx:f>
        <cx:lvl ptCount="10">
          <cx:pt idx="0">W008</cx:pt>
          <cx:pt idx="1">W006</cx:pt>
          <cx:pt idx="2">W002</cx:pt>
          <cx:pt idx="3">W004</cx:pt>
          <cx:pt idx="4">W009</cx:pt>
          <cx:pt idx="5">W007</cx:pt>
          <cx:pt idx="6">W001</cx:pt>
          <cx:pt idx="7">W005</cx:pt>
          <cx:pt idx="8">W003</cx:pt>
          <cx:pt idx="9">W010</cx:pt>
        </cx:lvl>
      </cx:strDim>
      <cx:numDim type="val">
        <cx:f>'task 4 4'!$B$2:$B$11</cx:f>
        <cx:lvl ptCount="10" formatCode="General">
          <cx:pt idx="0">76.1905</cx:pt>
          <cx:pt idx="1">67.567599999999999</cx:pt>
          <cx:pt idx="2">64.285700000000006</cx:pt>
          <cx:pt idx="3">61.290300000000002</cx:pt>
          <cx:pt idx="4">60.606099999999998</cx:pt>
          <cx:pt idx="5">60.526299999999999</cx:pt>
          <cx:pt idx="6">47.058799999999998</cx:pt>
          <cx:pt idx="7">44</cx:pt>
          <cx:pt idx="8">43.478299999999997</cx:pt>
          <cx:pt idx="9">33.333300000000001</cx:pt>
        </cx:lvl>
      </cx:numDim>
    </cx:data>
    <cx:data id="1">
      <cx:strDim type="cat">
        <cx:f>'task 4 4'!$A$2:$A$11</cx:f>
        <cx:lvl ptCount="10">
          <cx:pt idx="0">W008</cx:pt>
          <cx:pt idx="1">W006</cx:pt>
          <cx:pt idx="2">W002</cx:pt>
          <cx:pt idx="3">W004</cx:pt>
          <cx:pt idx="4">W009</cx:pt>
          <cx:pt idx="5">W007</cx:pt>
          <cx:pt idx="6">W001</cx:pt>
          <cx:pt idx="7">W005</cx:pt>
          <cx:pt idx="8">W003</cx:pt>
          <cx:pt idx="9">W010</cx:pt>
        </cx:lvl>
      </cx:strDim>
      <cx:numDim type="val">
        <cx:f>'task 4 4'!$C$2:$C$11</cx:f>
        <cx:lvl ptCount="10" formatCode="General">
          <cx:pt idx="0">1</cx:pt>
          <cx:pt idx="1">2</cx:pt>
          <cx:pt idx="2">3</cx:pt>
          <cx:pt idx="3">4</cx:pt>
          <cx:pt idx="4">5</cx:pt>
          <cx:pt idx="5">6</cx:pt>
          <cx:pt idx="6">7</cx:pt>
          <cx:pt idx="7">8</cx:pt>
          <cx:pt idx="8">9</cx:pt>
          <cx:pt idx="9">10</cx:pt>
        </cx:lvl>
      </cx:numDim>
    </cx:data>
  </cx:chartData>
  <cx:chart>
    <cx:title pos="t" align="ctr" overlay="0"/>
    <cx:plotArea>
      <cx:plotAreaRegion>
        <cx:series layoutId="funnel" uniqueId="{151D638C-4BF2-4DEF-B8DB-C3AAB5AD290C}" formatIdx="0">
          <cx:tx>
            <cx:txData>
              <cx:f>'task 4 4'!$B$1</cx:f>
              <cx:v>on_time_delivery_per</cx:v>
            </cx:txData>
          </cx:tx>
          <cx:spPr>
            <a:solidFill>
              <a:srgbClr val="FF6699"/>
            </a:solidFill>
          </cx:spPr>
          <cx:dataLabels>
            <cx:visibility seriesName="0" categoryName="0" value="1"/>
          </cx:dataLabels>
          <cx:dataId val="0"/>
        </cx:series>
        <cx:series layoutId="funnel" hidden="1" uniqueId="{66D23ECA-C109-4A5F-B60F-9CE6E0C29B30}" formatIdx="1">
          <cx:tx>
            <cx:txData>
              <cx:f>'task 4 4'!$C$1</cx:f>
              <cx:v>on_time_ranking</cx:v>
            </cx:txData>
          </cx:tx>
          <cx:dataLabels>
            <cx:visibility seriesName="0" categoryName="0" value="1"/>
          </cx:dataLabels>
          <cx:dataId val="1"/>
        </cx:series>
      </cx:plotAreaRegion>
      <cx:axis id="0">
        <cx:catScaling gapWidth="0.219999999"/>
        <cx:tickLabels/>
      </cx:axis>
    </cx:plotArea>
  </cx:chart>
  <cx:spPr>
    <a:ln>
      <a:solidFill>
        <a:srgbClr val="FF6699"/>
      </a:soli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8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95"/>
            <a:endParaRPr lang="en-US" sz="2399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4987990"/>
            <a:ext cx="10363200" cy="610820"/>
          </a:xfrm>
        </p:spPr>
        <p:txBody>
          <a:bodyPr/>
          <a:lstStyle>
            <a:lvl1pPr algn="ctr">
              <a:defRPr lang="en-US" sz="3999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9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5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3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45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1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66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258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422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84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267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7689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11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6534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5955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5378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712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60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22" indent="0">
              <a:buNone/>
              <a:defRPr sz="2666" b="1"/>
            </a:lvl2pPr>
            <a:lvl3pPr marL="1218845" indent="0">
              <a:buNone/>
              <a:defRPr sz="2399" b="1"/>
            </a:lvl3pPr>
            <a:lvl4pPr marL="1828267" indent="0">
              <a:buNone/>
              <a:defRPr sz="2133" b="1"/>
            </a:lvl4pPr>
            <a:lvl5pPr marL="2437689" indent="0">
              <a:buNone/>
              <a:defRPr sz="2133" b="1"/>
            </a:lvl5pPr>
            <a:lvl6pPr marL="3047111" indent="0">
              <a:buNone/>
              <a:defRPr sz="2133" b="1"/>
            </a:lvl6pPr>
            <a:lvl7pPr marL="3656534" indent="0">
              <a:buNone/>
              <a:defRPr sz="2133" b="1"/>
            </a:lvl7pPr>
            <a:lvl8pPr marL="4265955" indent="0">
              <a:buNone/>
              <a:defRPr sz="2133" b="1"/>
            </a:lvl8pPr>
            <a:lvl9pPr marL="48753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22" indent="0">
              <a:buNone/>
              <a:defRPr sz="2666" b="1"/>
            </a:lvl2pPr>
            <a:lvl3pPr marL="1218845" indent="0">
              <a:buNone/>
              <a:defRPr sz="2399" b="1"/>
            </a:lvl3pPr>
            <a:lvl4pPr marL="1828267" indent="0">
              <a:buNone/>
              <a:defRPr sz="2133" b="1"/>
            </a:lvl4pPr>
            <a:lvl5pPr marL="2437689" indent="0">
              <a:buNone/>
              <a:defRPr sz="2133" b="1"/>
            </a:lvl5pPr>
            <a:lvl6pPr marL="3047111" indent="0">
              <a:buNone/>
              <a:defRPr sz="2133" b="1"/>
            </a:lvl6pPr>
            <a:lvl7pPr marL="3656534" indent="0">
              <a:buNone/>
              <a:defRPr sz="2133" b="1"/>
            </a:lvl7pPr>
            <a:lvl8pPr marL="4265955" indent="0">
              <a:buNone/>
              <a:defRPr sz="2133" b="1"/>
            </a:lvl8pPr>
            <a:lvl9pPr marL="48753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22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9063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1" cy="508000"/>
          </a:xfrm>
        </p:spPr>
        <p:txBody>
          <a:bodyPr>
            <a:noAutofit/>
          </a:bodyPr>
          <a:lstStyle>
            <a:lvl1pPr marL="0" indent="0">
              <a:buNone/>
              <a:defRPr sz="1866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962812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72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273050"/>
            <a:ext cx="4011084" cy="1162051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6"/>
            </a:lvl1pPr>
            <a:lvl2pPr>
              <a:defRPr sz="3732"/>
            </a:lvl2pPr>
            <a:lvl3pPr>
              <a:defRPr sz="3199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4" y="1435103"/>
            <a:ext cx="4011084" cy="4691063"/>
          </a:xfrm>
        </p:spPr>
        <p:txBody>
          <a:bodyPr/>
          <a:lstStyle>
            <a:lvl1pPr marL="0" indent="0">
              <a:buNone/>
              <a:defRPr sz="1866"/>
            </a:lvl1pPr>
            <a:lvl2pPr marL="609422" indent="0">
              <a:buNone/>
              <a:defRPr sz="1600"/>
            </a:lvl2pPr>
            <a:lvl3pPr marL="1218845" indent="0">
              <a:buNone/>
              <a:defRPr sz="1333"/>
            </a:lvl3pPr>
            <a:lvl4pPr marL="1828267" indent="0">
              <a:buNone/>
              <a:defRPr sz="1200"/>
            </a:lvl4pPr>
            <a:lvl5pPr marL="2437689" indent="0">
              <a:buNone/>
              <a:defRPr sz="1200"/>
            </a:lvl5pPr>
            <a:lvl6pPr marL="3047111" indent="0">
              <a:buNone/>
              <a:defRPr sz="1200"/>
            </a:lvl6pPr>
            <a:lvl7pPr marL="3656534" indent="0">
              <a:buNone/>
              <a:defRPr sz="1200"/>
            </a:lvl7pPr>
            <a:lvl8pPr marL="4265955" indent="0">
              <a:buNone/>
              <a:defRPr sz="1200"/>
            </a:lvl8pPr>
            <a:lvl9pPr marL="48753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79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2"/>
            <a:ext cx="7315200" cy="566739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266"/>
            </a:lvl1pPr>
            <a:lvl2pPr marL="609422" indent="0">
              <a:buNone/>
              <a:defRPr sz="3732"/>
            </a:lvl2pPr>
            <a:lvl3pPr marL="1218845" indent="0">
              <a:buNone/>
              <a:defRPr sz="3199"/>
            </a:lvl3pPr>
            <a:lvl4pPr marL="1828267" indent="0">
              <a:buNone/>
              <a:defRPr sz="2666"/>
            </a:lvl4pPr>
            <a:lvl5pPr marL="2437689" indent="0">
              <a:buNone/>
              <a:defRPr sz="2666"/>
            </a:lvl5pPr>
            <a:lvl6pPr marL="3047111" indent="0">
              <a:buNone/>
              <a:defRPr sz="2666"/>
            </a:lvl6pPr>
            <a:lvl7pPr marL="3656534" indent="0">
              <a:buNone/>
              <a:defRPr sz="2666"/>
            </a:lvl7pPr>
            <a:lvl8pPr marL="4265955" indent="0">
              <a:buNone/>
              <a:defRPr sz="2666"/>
            </a:lvl8pPr>
            <a:lvl9pPr marL="4875378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40"/>
            <a:ext cx="7315200" cy="804863"/>
          </a:xfrm>
        </p:spPr>
        <p:txBody>
          <a:bodyPr/>
          <a:lstStyle>
            <a:lvl1pPr marL="0" indent="0">
              <a:buNone/>
              <a:defRPr sz="1866"/>
            </a:lvl1pPr>
            <a:lvl2pPr marL="609422" indent="0">
              <a:buNone/>
              <a:defRPr sz="1600"/>
            </a:lvl2pPr>
            <a:lvl3pPr marL="1218845" indent="0">
              <a:buNone/>
              <a:defRPr sz="1333"/>
            </a:lvl3pPr>
            <a:lvl4pPr marL="1828267" indent="0">
              <a:buNone/>
              <a:defRPr sz="1200"/>
            </a:lvl4pPr>
            <a:lvl5pPr marL="2437689" indent="0">
              <a:buNone/>
              <a:defRPr sz="1200"/>
            </a:lvl5pPr>
            <a:lvl6pPr marL="3047111" indent="0">
              <a:buNone/>
              <a:defRPr sz="1200"/>
            </a:lvl6pPr>
            <a:lvl7pPr marL="3656534" indent="0">
              <a:buNone/>
              <a:defRPr sz="1200"/>
            </a:lvl7pPr>
            <a:lvl8pPr marL="4265955" indent="0">
              <a:buNone/>
              <a:defRPr sz="1200"/>
            </a:lvl8pPr>
            <a:lvl9pPr marL="48753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448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310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696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1" cy="508000"/>
          </a:xfrm>
        </p:spPr>
        <p:txBody>
          <a:bodyPr>
            <a:noAutofit/>
          </a:bodyPr>
          <a:lstStyle>
            <a:lvl1pPr marL="0" indent="0">
              <a:buNone/>
              <a:defRPr sz="1866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1930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bg>
      <p:bgPr>
        <a:gradFill flip="none" rotWithShape="1">
          <a:gsLst>
            <a:gs pos="81000">
              <a:schemeClr val="bg1">
                <a:lumMod val="95000"/>
              </a:schemeClr>
            </a:gs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42"/>
            <a:ext cx="6705600" cy="711081"/>
          </a:xfrm>
        </p:spPr>
        <p:txBody>
          <a:bodyPr>
            <a:noAutofit/>
          </a:bodyPr>
          <a:lstStyle>
            <a:lvl1pPr>
              <a:defRPr sz="359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2B0-FEF2-4C8F-90A4-46C9D72643E3}" type="datetime1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SlideModel.com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0000" y="6356354"/>
            <a:ext cx="762001" cy="365125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0" tIns="91440" rIns="0" bIns="91440" numCol="1" anchor="ctr" anchorCtr="1" compatLnSpc="1">
            <a:prstTxWarp prst="textNoShape">
              <a:avLst/>
            </a:prstTxWarp>
          </a:bodyPr>
          <a:lstStyle>
            <a:lvl1pPr algn="r">
              <a:defRPr lang="en-US" sz="1400" kern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6E69268-9C8B-4EBF-A9EE-DC5DC2D48DC3}" type="slidenum">
              <a:rPr lang="es-UY" smtClean="0"/>
              <a:pPr/>
              <a:t>‹#›</a:t>
            </a:fld>
            <a:endParaRPr lang="es-UY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480301" y="362139"/>
            <a:ext cx="4114800" cy="533400"/>
          </a:xfrm>
        </p:spPr>
        <p:txBody>
          <a:bodyPr anchor="ctr">
            <a:noAutofit/>
          </a:bodyPr>
          <a:lstStyle>
            <a:lvl1pPr marL="0" indent="0" algn="r">
              <a:buNone/>
              <a:defRPr sz="1999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Breadcrumb 1 &gt; Breadcrumb 2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870015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Left Clipart Right"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684391" y="1066800"/>
            <a:ext cx="4192092" cy="762000"/>
          </a:xfrm>
        </p:spPr>
        <p:txBody>
          <a:bodyPr>
            <a:noAutofit/>
          </a:bodyPr>
          <a:lstStyle>
            <a:lvl1pPr>
              <a:defRPr sz="3999" b="1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4"/>
          </p:nvPr>
        </p:nvSpPr>
        <p:spPr>
          <a:xfrm>
            <a:off x="684391" y="2057400"/>
            <a:ext cx="4192092" cy="381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2356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>
                <a:solidFill>
                  <a:srgbClr val="080808">
                    <a:tint val="75000"/>
                  </a:srgbClr>
                </a:solidFill>
              </a:rPr>
              <a:pPr/>
              <a:t>3/21/2026</a:t>
            </a:fld>
            <a:endParaRPr lang="en-US">
              <a:solidFill>
                <a:srgbClr val="080808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80808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>
                <a:solidFill>
                  <a:srgbClr val="080808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8080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437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C135-1F0F-8D96-8E87-A5F07626D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02345-407A-F02A-0A45-9D8720FF4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9C2F0-1B25-03A7-7C6A-02C934A33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04E5B-FD1E-2A2C-06B0-1AF0A1AAE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D07C9-5118-A873-FA7B-BAA43888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6091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2105-1913-365B-5610-11004213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9331-5B84-17E4-3155-177C0300E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A9E7E-6A4F-D28F-B741-18199D43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4002E-D021-E74B-A8CD-8E52BD81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9F24-51A6-A24E-D561-41CBFD84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9662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253A-FE13-82DE-0650-343A566F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FD212-0956-BA4E-3E77-608DBECB5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268C8-3A7B-A15A-3D38-0C5F6AC8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D9670-DBD7-2CCF-2C90-2B1A1FC0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ADAF3-1851-5AC7-FAAB-48BDB5B7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081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783C-2D5C-8EE7-67EA-9AF7BD6A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FC5ED-08AC-6DBC-6A6B-75A616957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5AA1F-89EE-D5D6-07C1-107CF644B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CB5A9-85CC-EE67-A02F-95CF715E7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11379-8431-F787-C3F5-DF00DC09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BFB74-2249-2AEB-657A-87932FBB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5281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0C06-30A9-EB72-1754-D317B76A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07E8B-4FAC-28D4-52E0-23AEF7233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8FBCF-C12A-7C68-5E1A-6548E4294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BCFD10-9C57-DFEA-0B00-F52BF01D2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41FB3C-EC73-ED0B-3E78-4FEB89E0A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6622A7-D30C-1D83-BADE-D91DB8DE8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681467-BCD0-338C-665E-2ECA3E05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772C8-C955-0783-FCF5-B15B36FF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990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474A-D976-A63C-A992-D6BA59A3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4A18C-10D2-C036-4BD4-99635229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1793C-D435-C2DC-F5B3-8F69C034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A4F26-96A7-3A0B-AF96-40148D6F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6072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F4ACE-6A50-3777-3E05-1E593AF2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03574-7E75-7391-063D-829BB257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2040F-9CD0-E4E6-A63E-68F85D42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3552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F295-2B4A-EB12-C024-0B2F08564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9E77E-177B-9C29-70F1-797A48CF7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137FA-A5FF-110E-199E-74199AD72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9ED41-6FBE-46BB-9E97-02FEFC26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4B055-A4E9-51AA-FA88-1D0FA806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66653-5AEB-9EFA-013F-0297AC012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1656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500A-10E3-B6B3-5B23-29D8681C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5A22CF-692D-AA4D-4DE8-3D04FCC36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5003E-A7CC-3413-B98B-8142E2806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FC952-E50A-395C-C3CA-DAEDCF2A1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DC2DB-E203-C035-83CB-7CF933B4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C3AF3-6CFA-9CCB-6E8A-3C6D3B7D6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7160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6081-3509-C080-0F00-8C7BA7996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07012-9CE2-B3C7-0F94-AF9362E2B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8B031-A467-79CE-FE1B-A9FD15A4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1F4EB-1A07-C811-31FF-6136E0A4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989F2-5452-29C0-9D8E-4B9F93B7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3436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F03963-8780-2D4E-B9EE-CE1F68BD47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904D0-3E13-6EB2-E77E-CF3FE9B4C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D0354-FE34-F01B-EBF8-01123CAA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630F3-2B3F-F998-1C51-70511DF1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B7E72-3831-051D-0FD1-A28EA574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31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6"/>
            <a:ext cx="10972801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895"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3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2" y="6356353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89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121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1218845" rtl="0" eaLnBrk="1" latinLnBrk="0" hangingPunct="1">
        <a:spcBef>
          <a:spcPct val="0"/>
        </a:spcBef>
        <a:buNone/>
        <a:defRPr sz="3199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067" indent="-457067" algn="l" defTabSz="1218845" rtl="0" eaLnBrk="1" latinLnBrk="0" hangingPunct="1">
        <a:spcBef>
          <a:spcPct val="20000"/>
        </a:spcBef>
        <a:buFont typeface="Arial" pitchFamily="34" charset="0"/>
        <a:buChar char="•"/>
        <a:defRPr sz="3599" kern="1200">
          <a:solidFill>
            <a:schemeClr val="tx1"/>
          </a:solidFill>
          <a:latin typeface="+mj-lt"/>
          <a:ea typeface="+mn-ea"/>
          <a:cs typeface="+mn-cs"/>
        </a:defRPr>
      </a:lvl1pPr>
      <a:lvl2pPr marL="990311" indent="-380889" algn="l" defTabSz="1218845" rtl="0" eaLnBrk="1" latinLnBrk="0" hangingPunct="1">
        <a:spcBef>
          <a:spcPct val="20000"/>
        </a:spcBef>
        <a:buFont typeface="Arial" pitchFamily="34" charset="0"/>
        <a:buChar char="–"/>
        <a:defRPr sz="3199" kern="1200">
          <a:solidFill>
            <a:schemeClr val="tx1"/>
          </a:solidFill>
          <a:latin typeface="+mj-lt"/>
          <a:ea typeface="+mn-ea"/>
          <a:cs typeface="+mn-cs"/>
        </a:defRPr>
      </a:lvl2pPr>
      <a:lvl3pPr marL="1523555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j-lt"/>
          <a:ea typeface="+mn-ea"/>
          <a:cs typeface="+mn-cs"/>
        </a:defRPr>
      </a:lvl3pPr>
      <a:lvl4pPr marL="2132979" indent="-304712" algn="l" defTabSz="121884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400" indent="-304712" algn="l" defTabSz="121884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1822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244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666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089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22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45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267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689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111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534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955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378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3C3B8-39EA-0EB0-39BE-91178252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6BBC4-AD72-BEBC-C7BD-7F4884EF3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458B8-2646-B394-1151-474C1EB48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895"/>
              <a:t>3/21/2026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2D3B1-F682-3FEC-4FF3-CE8D8C377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4713-CFF4-8833-CB32-C6A60BD98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89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78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9cK_CRqOzN3pQ5pib1Tj8d7qqiE9A_Ta/view?usp=sharing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88" y="4944830"/>
            <a:ext cx="12188824" cy="155692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0445" y="5030974"/>
            <a:ext cx="10293225" cy="1384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799" b="1" i="0" u="none" strike="noStrike" kern="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Narrow" panose="020B0606020202030204" pitchFamily="34" charset="0"/>
                <a:ea typeface="+mn-ea"/>
                <a:cs typeface="Arial" pitchFamily="34" charset="0"/>
              </a:rPr>
              <a:t>This is a TITLE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99" b="1" i="0" u="none" strike="noStrike" kern="0" cap="all" spc="0" normalizeH="0" baseline="0" noProof="0" dirty="0">
                <a:ln>
                  <a:noFill/>
                </a:ln>
                <a:solidFill>
                  <a:srgbClr val="A7CCDF">
                    <a:lumMod val="75000"/>
                  </a:srgbClr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Narrow" panose="020B0606020202030204" pitchFamily="34" charset="0"/>
                <a:ea typeface="+mn-ea"/>
                <a:cs typeface="Arial" pitchFamily="34" charset="0"/>
              </a:rPr>
              <a:t>OVER A GRADIENT SHAPE</a:t>
            </a:r>
            <a:endParaRPr kumimoji="0" lang="en-US" sz="3599" b="1" i="0" u="none" strike="noStrike" kern="1200" cap="all" spc="0" normalizeH="0" baseline="0" noProof="0" dirty="0">
              <a:ln>
                <a:noFill/>
              </a:ln>
              <a:solidFill>
                <a:srgbClr val="A7CCDF">
                  <a:lumMod val="75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 Narrow" panose="020B0606020202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27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5">
            <a:extLst>
              <a:ext uri="{FF2B5EF4-FFF2-40B4-BE49-F238E27FC236}">
                <a16:creationId xmlns:a16="http://schemas.microsoft.com/office/drawing/2014/main" id="{E10D91AB-A907-70AD-2D94-A6A36EB49A58}"/>
              </a:ext>
            </a:extLst>
          </p:cNvPr>
          <p:cNvSpPr/>
          <p:nvPr/>
        </p:nvSpPr>
        <p:spPr>
          <a:xfrm>
            <a:off x="192472" y="211012"/>
            <a:ext cx="2870041" cy="3054701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>
                <a:solidFill>
                  <a:schemeClr val="tx1"/>
                </a:solidFill>
              </a:rPr>
              <a:t>Task 1</a:t>
            </a:r>
            <a:r>
              <a:rPr lang="en-GB" sz="1400" dirty="0">
                <a:solidFill>
                  <a:schemeClr val="tx1"/>
                </a:solidFill>
              </a:rPr>
              <a:t>: Data Cleaning &amp; Preparation</a:t>
            </a:r>
          </a:p>
          <a:p>
            <a:r>
              <a:rPr lang="en-GB" sz="1400" dirty="0">
                <a:solidFill>
                  <a:schemeClr val="tx1"/>
                </a:solidFill>
              </a:rPr>
              <a:t>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Identify and delete duplicate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</a:t>
            </a:r>
            <a:r>
              <a:rPr lang="en-GB" sz="1400" dirty="0" err="1">
                <a:solidFill>
                  <a:schemeClr val="tx1"/>
                </a:solidFill>
              </a:rPr>
              <a:t>Order_ID</a:t>
            </a:r>
            <a:r>
              <a:rPr lang="en-GB" sz="1400" dirty="0">
                <a:solidFill>
                  <a:schemeClr val="tx1"/>
                </a:solidFill>
              </a:rPr>
              <a:t> records.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Replace null </a:t>
            </a:r>
            <a:r>
              <a:rPr lang="en-GB" sz="1400" dirty="0" err="1">
                <a:solidFill>
                  <a:schemeClr val="tx1"/>
                </a:solidFill>
              </a:rPr>
              <a:t>Traffic_Delay_Min</a:t>
            </a:r>
            <a:endParaRPr lang="en-GB" sz="1400" dirty="0">
              <a:solidFill>
                <a:schemeClr val="tx1"/>
              </a:solidFill>
            </a:endParaRPr>
          </a:p>
          <a:p>
            <a:r>
              <a:rPr lang="en-GB" sz="1400" dirty="0">
                <a:solidFill>
                  <a:schemeClr val="tx1"/>
                </a:solidFill>
              </a:rPr>
              <a:t>    with the average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delay for that route.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Convert all date columns into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YYYY-MM-DD format using SQL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functions.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Ensure that no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</a:t>
            </a:r>
            <a:r>
              <a:rPr lang="en-GB" sz="1400" dirty="0" err="1">
                <a:solidFill>
                  <a:schemeClr val="tx1"/>
                </a:solidFill>
              </a:rPr>
              <a:t>Actual_Delivery_Date</a:t>
            </a:r>
            <a:r>
              <a:rPr lang="en-GB" sz="1400" dirty="0">
                <a:solidFill>
                  <a:schemeClr val="tx1"/>
                </a:solidFill>
              </a:rPr>
              <a:t> is before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</a:t>
            </a:r>
            <a:r>
              <a:rPr lang="en-GB" sz="1400" dirty="0" err="1">
                <a:solidFill>
                  <a:schemeClr val="tx1"/>
                </a:solidFill>
              </a:rPr>
              <a:t>Order_Date</a:t>
            </a:r>
            <a:r>
              <a:rPr lang="en-GB" sz="1400" dirty="0">
                <a:solidFill>
                  <a:schemeClr val="tx1"/>
                </a:solidFill>
              </a:rPr>
              <a:t> (flag such records).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C95B3EF8-AF7C-8AE1-118F-324669F397D1}"/>
              </a:ext>
            </a:extLst>
          </p:cNvPr>
          <p:cNvSpPr/>
          <p:nvPr/>
        </p:nvSpPr>
        <p:spPr>
          <a:xfrm>
            <a:off x="3225959" y="200298"/>
            <a:ext cx="2870041" cy="3054701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Task 2</a:t>
            </a:r>
            <a:r>
              <a:rPr lang="en-GB" sz="1400" dirty="0">
                <a:solidFill>
                  <a:schemeClr val="tx1"/>
                </a:solidFill>
              </a:rPr>
              <a:t>: Delivery Delay Analysis </a:t>
            </a:r>
          </a:p>
          <a:p>
            <a:endParaRPr lang="en-GB" sz="1400" dirty="0">
              <a:solidFill>
                <a:schemeClr val="tx1"/>
              </a:solidFill>
            </a:endParaRPr>
          </a:p>
          <a:p>
            <a:r>
              <a:rPr lang="en-GB" sz="1400" dirty="0">
                <a:solidFill>
                  <a:schemeClr val="tx1"/>
                </a:solidFill>
              </a:rPr>
              <a:t>● Calculate delivery delay (in days)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for each order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Find Top 10 delayed routes based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on </a:t>
            </a:r>
            <a:r>
              <a:rPr lang="en-GB" sz="1400" dirty="0" err="1">
                <a:solidFill>
                  <a:schemeClr val="tx1"/>
                </a:solidFill>
              </a:rPr>
              <a:t>averagedelay</a:t>
            </a:r>
            <a:r>
              <a:rPr lang="en-GB" sz="1400" dirty="0">
                <a:solidFill>
                  <a:schemeClr val="tx1"/>
                </a:solidFill>
              </a:rPr>
              <a:t> days.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Use window functions to rank all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orders by delay within each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warehouse.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5">
            <a:extLst>
              <a:ext uri="{FF2B5EF4-FFF2-40B4-BE49-F238E27FC236}">
                <a16:creationId xmlns:a16="http://schemas.microsoft.com/office/drawing/2014/main" id="{627DAEA0-21A5-BA09-B7F5-E424DB1A986C}"/>
              </a:ext>
            </a:extLst>
          </p:cNvPr>
          <p:cNvSpPr/>
          <p:nvPr/>
        </p:nvSpPr>
        <p:spPr>
          <a:xfrm>
            <a:off x="6259448" y="221727"/>
            <a:ext cx="2870041" cy="3043986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Task 3</a:t>
            </a:r>
            <a:r>
              <a:rPr lang="en-GB" sz="1400" dirty="0">
                <a:solidFill>
                  <a:schemeClr val="tx1"/>
                </a:solidFill>
              </a:rPr>
              <a:t>: Route Optimization Insights </a:t>
            </a:r>
          </a:p>
          <a:p>
            <a:r>
              <a:rPr lang="en-GB" sz="1400" dirty="0">
                <a:solidFill>
                  <a:schemeClr val="tx1"/>
                </a:solidFill>
              </a:rPr>
              <a:t>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For each route, calculate: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Average delivery time (in days).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Average traffic delay.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Distance-to-time efficiency ratio: </a:t>
            </a:r>
            <a:r>
              <a:rPr lang="en-GB" sz="1400" dirty="0" err="1">
                <a:solidFill>
                  <a:schemeClr val="tx1"/>
                </a:solidFill>
              </a:rPr>
              <a:t>Distance_KM</a:t>
            </a:r>
            <a:r>
              <a:rPr lang="en-GB" sz="1400" dirty="0">
                <a:solidFill>
                  <a:schemeClr val="tx1"/>
                </a:solidFill>
              </a:rPr>
              <a:t>/</a:t>
            </a:r>
            <a:r>
              <a:rPr lang="en-GB" sz="1400" dirty="0" err="1">
                <a:solidFill>
                  <a:schemeClr val="tx1"/>
                </a:solidFill>
              </a:rPr>
              <a:t>Average_Travel_Time_Min</a:t>
            </a:r>
            <a:r>
              <a:rPr lang="en-GB" sz="1400" dirty="0">
                <a:solidFill>
                  <a:schemeClr val="tx1"/>
                </a:solidFill>
              </a:rPr>
              <a:t>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Identify 3 routes with the worst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efficiency ratio.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Find routes with &gt;20% delayed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shipments.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Recommend potential routes for optimization</a:t>
            </a:r>
            <a:r>
              <a:rPr lang="en-GB" sz="1400" dirty="0">
                <a:solidFill>
                  <a:schemeClr val="bg1"/>
                </a:solidFill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Rectangle: Rounded Corners 5">
            <a:extLst>
              <a:ext uri="{FF2B5EF4-FFF2-40B4-BE49-F238E27FC236}">
                <a16:creationId xmlns:a16="http://schemas.microsoft.com/office/drawing/2014/main" id="{5F57E3AA-48CA-5FAC-847A-7A0B7940C733}"/>
              </a:ext>
            </a:extLst>
          </p:cNvPr>
          <p:cNvSpPr/>
          <p:nvPr/>
        </p:nvSpPr>
        <p:spPr>
          <a:xfrm>
            <a:off x="9292935" y="221728"/>
            <a:ext cx="2739412" cy="3033272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Task 4</a:t>
            </a:r>
            <a:r>
              <a:rPr lang="en-GB" sz="1400" dirty="0">
                <a:solidFill>
                  <a:schemeClr val="tx1"/>
                </a:solidFill>
              </a:rPr>
              <a:t>: Warehouse Performance </a:t>
            </a:r>
          </a:p>
          <a:p>
            <a:endParaRPr lang="en-GB" sz="1400" dirty="0">
              <a:solidFill>
                <a:schemeClr val="tx1"/>
              </a:solidFill>
            </a:endParaRPr>
          </a:p>
          <a:p>
            <a:r>
              <a:rPr lang="en-GB" sz="1400" dirty="0">
                <a:solidFill>
                  <a:schemeClr val="tx1"/>
                </a:solidFill>
              </a:rPr>
              <a:t>● Find the top 3 warehouses with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the highest average processing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time.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Calculate total vs. delayed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shipments for each warehouse.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Use CTEs to find bottleneck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warehouses where processing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time &gt; global average.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Rank warehouses based on </a:t>
            </a:r>
            <a:r>
              <a:rPr lang="en-GB" sz="1400" dirty="0" err="1">
                <a:solidFill>
                  <a:schemeClr val="tx1"/>
                </a:solidFill>
              </a:rPr>
              <a:t>on</a:t>
            </a:r>
            <a:endParaRPr lang="en-GB" sz="1400" dirty="0">
              <a:solidFill>
                <a:schemeClr val="tx1"/>
              </a:solidFill>
            </a:endParaRPr>
          </a:p>
          <a:p>
            <a:r>
              <a:rPr lang="en-GB" sz="1400" dirty="0">
                <a:solidFill>
                  <a:schemeClr val="tx1"/>
                </a:solidFill>
              </a:rPr>
              <a:t>    time delivery percentage.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5">
            <a:extLst>
              <a:ext uri="{FF2B5EF4-FFF2-40B4-BE49-F238E27FC236}">
                <a16:creationId xmlns:a16="http://schemas.microsoft.com/office/drawing/2014/main" id="{7876F0C6-F19C-5568-61C5-762D6AD8FF24}"/>
              </a:ext>
            </a:extLst>
          </p:cNvPr>
          <p:cNvSpPr/>
          <p:nvPr/>
        </p:nvSpPr>
        <p:spPr>
          <a:xfrm>
            <a:off x="203197" y="3428999"/>
            <a:ext cx="2739411" cy="3228703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Task 5</a:t>
            </a:r>
            <a:r>
              <a:rPr lang="en-GB" sz="1400" dirty="0">
                <a:solidFill>
                  <a:schemeClr val="tx1"/>
                </a:solidFill>
              </a:rPr>
              <a:t> : Delivery Agent Performance </a:t>
            </a:r>
          </a:p>
          <a:p>
            <a:endParaRPr lang="en-GB" sz="1400" dirty="0">
              <a:solidFill>
                <a:schemeClr val="tx1"/>
              </a:solidFill>
            </a:endParaRPr>
          </a:p>
          <a:p>
            <a:r>
              <a:rPr lang="en-GB" sz="1400" dirty="0">
                <a:solidFill>
                  <a:schemeClr val="tx1"/>
                </a:solidFill>
              </a:rPr>
              <a:t>● Rank agents (per route) by on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time delivery percentage 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Find agents with on-time % &lt;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80%.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Compare average speed of top 5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vs bottom 5 agents using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subqueries.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5">
            <a:extLst>
              <a:ext uri="{FF2B5EF4-FFF2-40B4-BE49-F238E27FC236}">
                <a16:creationId xmlns:a16="http://schemas.microsoft.com/office/drawing/2014/main" id="{56020133-5E1A-4B04-8021-C02C98E45DB4}"/>
              </a:ext>
            </a:extLst>
          </p:cNvPr>
          <p:cNvSpPr/>
          <p:nvPr/>
        </p:nvSpPr>
        <p:spPr>
          <a:xfrm>
            <a:off x="3225959" y="3428999"/>
            <a:ext cx="2739412" cy="3228703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>
                <a:solidFill>
                  <a:schemeClr val="tx1"/>
                </a:solidFill>
              </a:rPr>
              <a:t>Task 6</a:t>
            </a:r>
            <a:r>
              <a:rPr lang="en-GB" sz="1400" dirty="0">
                <a:solidFill>
                  <a:schemeClr val="tx1"/>
                </a:solidFill>
              </a:rPr>
              <a:t>: Shipment Tracking Analytics </a:t>
            </a:r>
          </a:p>
          <a:p>
            <a:endParaRPr lang="en-GB" sz="1400" dirty="0">
              <a:solidFill>
                <a:schemeClr val="tx1"/>
              </a:solidFill>
            </a:endParaRPr>
          </a:p>
          <a:p>
            <a:r>
              <a:rPr lang="en-GB" sz="1400" dirty="0">
                <a:solidFill>
                  <a:schemeClr val="tx1"/>
                </a:solidFill>
              </a:rPr>
              <a:t>● For each order, list the last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checkpoint and time.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Find the most common delay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reasons (excluding None).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Identify orders with &gt;2 delayed</a:t>
            </a:r>
          </a:p>
          <a:p>
            <a:r>
              <a:rPr lang="en-GB" sz="1400" dirty="0">
                <a:solidFill>
                  <a:schemeClr val="tx1"/>
                </a:solidFill>
              </a:rPr>
              <a:t>    checkpoints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5">
            <a:extLst>
              <a:ext uri="{FF2B5EF4-FFF2-40B4-BE49-F238E27FC236}">
                <a16:creationId xmlns:a16="http://schemas.microsoft.com/office/drawing/2014/main" id="{45F727F7-15F9-BBDF-814F-A037335AF1A8}"/>
              </a:ext>
            </a:extLst>
          </p:cNvPr>
          <p:cNvSpPr/>
          <p:nvPr/>
        </p:nvSpPr>
        <p:spPr>
          <a:xfrm>
            <a:off x="6324762" y="3428999"/>
            <a:ext cx="2739412" cy="3228703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Task 7</a:t>
            </a:r>
            <a:r>
              <a:rPr lang="en-US" sz="1400" dirty="0">
                <a:solidFill>
                  <a:schemeClr val="tx1"/>
                </a:solidFill>
              </a:rPr>
              <a:t>: Advanced KPI Reporting 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Calculate KPIs using SQL queries: 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GB" sz="1400" dirty="0">
                <a:solidFill>
                  <a:schemeClr val="tx1"/>
                </a:solidFill>
              </a:rPr>
              <a:t>● </a:t>
            </a:r>
            <a:r>
              <a:rPr lang="en-US" sz="1400" dirty="0">
                <a:solidFill>
                  <a:schemeClr val="tx1"/>
                </a:solidFill>
              </a:rPr>
              <a:t>Average Delivery Delay per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Region (</a:t>
            </a:r>
            <a:r>
              <a:rPr lang="en-US" sz="1400" dirty="0" err="1">
                <a:solidFill>
                  <a:schemeClr val="tx1"/>
                </a:solidFill>
              </a:rPr>
              <a:t>Start_Location</a:t>
            </a:r>
            <a:r>
              <a:rPr lang="en-US" sz="1400" dirty="0">
                <a:solidFill>
                  <a:schemeClr val="tx1"/>
                </a:solidFill>
              </a:rPr>
              <a:t>).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</a:t>
            </a:r>
            <a:r>
              <a:rPr lang="en-US" sz="1400" dirty="0">
                <a:solidFill>
                  <a:schemeClr val="tx1"/>
                </a:solidFill>
              </a:rPr>
              <a:t>On-Time Delivery % = (Total On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Time Deliveries / Total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Deliveries) * 100. </a:t>
            </a:r>
          </a:p>
          <a:p>
            <a:r>
              <a:rPr lang="en-GB" sz="1400" dirty="0">
                <a:solidFill>
                  <a:schemeClr val="tx1"/>
                </a:solidFill>
              </a:rPr>
              <a:t>● </a:t>
            </a:r>
            <a:r>
              <a:rPr lang="en-US" sz="1400" dirty="0">
                <a:solidFill>
                  <a:schemeClr val="tx1"/>
                </a:solidFill>
              </a:rPr>
              <a:t>Average Traffic Delay per Route.</a:t>
            </a:r>
          </a:p>
        </p:txBody>
      </p:sp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F7980A46-3B11-1620-AC2F-D2D603523587}"/>
              </a:ext>
            </a:extLst>
          </p:cNvPr>
          <p:cNvSpPr/>
          <p:nvPr/>
        </p:nvSpPr>
        <p:spPr>
          <a:xfrm>
            <a:off x="9292935" y="3428999"/>
            <a:ext cx="2739412" cy="3228703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FF0000">
              <a:alpha val="52157"/>
            </a:srgbClr>
          </a:solidFill>
          <a:ln>
            <a:solidFill>
              <a:srgbClr val="FF0000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u="sng" dirty="0">
                <a:solidFill>
                  <a:schemeClr val="bg1"/>
                </a:solidFill>
              </a:rPr>
              <a:t>NOTE</a:t>
            </a:r>
            <a:r>
              <a:rPr lang="en-US" sz="1600" b="1" dirty="0">
                <a:solidFill>
                  <a:schemeClr val="bg1"/>
                </a:solidFill>
              </a:rPr>
              <a:t>: FOR SOME RESULTING DATASETS THE ROWS WERE MORE THEN 300 EVEN CLOSE TO 1000 SO PARTIAL RESULTING TABLE IS USED FOR REPRESENTION ON SOME QUERY</a:t>
            </a:r>
          </a:p>
        </p:txBody>
      </p:sp>
    </p:spTree>
    <p:extLst>
      <p:ext uri="{BB962C8B-B14F-4D97-AF65-F5344CB8AC3E}">
        <p14:creationId xmlns:p14="http://schemas.microsoft.com/office/powerpoint/2010/main" val="375283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C0468B-D551-B57A-8E07-DE54B9832DCA}"/>
              </a:ext>
            </a:extLst>
          </p:cNvPr>
          <p:cNvSpPr txBox="1"/>
          <p:nvPr/>
        </p:nvSpPr>
        <p:spPr>
          <a:xfrm>
            <a:off x="290946" y="83118"/>
            <a:ext cx="94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Task 1.1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614DAA-AE04-92C6-657F-8B97A0AE63C2}"/>
              </a:ext>
            </a:extLst>
          </p:cNvPr>
          <p:cNvSpPr txBox="1"/>
          <p:nvPr/>
        </p:nvSpPr>
        <p:spPr>
          <a:xfrm>
            <a:off x="290945" y="484894"/>
            <a:ext cx="4913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Identify and delete duplicate </a:t>
            </a:r>
            <a:r>
              <a:rPr lang="en-GB" dirty="0" err="1"/>
              <a:t>Order_ID</a:t>
            </a:r>
            <a:r>
              <a:rPr lang="en-GB" dirty="0"/>
              <a:t> records.</a:t>
            </a:r>
            <a:endParaRPr lang="en-US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E7501C61-3C5F-3210-E191-FC59969E0203}"/>
              </a:ext>
            </a:extLst>
          </p:cNvPr>
          <p:cNvSpPr/>
          <p:nvPr/>
        </p:nvSpPr>
        <p:spPr>
          <a:xfrm>
            <a:off x="290946" y="995148"/>
            <a:ext cx="4913140" cy="1269081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solidFill>
              <a:srgbClr val="FFFFFF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400" dirty="0"/>
          </a:p>
          <a:p>
            <a:pPr rtl="0"/>
            <a:r>
              <a:rPr lang="en-GB" sz="1400" dirty="0"/>
              <a:t>DELETE o1</a:t>
            </a:r>
            <a:br>
              <a:rPr lang="en-GB" sz="1400" dirty="0"/>
            </a:br>
            <a:r>
              <a:rPr lang="en-GB" sz="1400" dirty="0"/>
              <a:t>FROM orders o1</a:t>
            </a:r>
            <a:br>
              <a:rPr lang="en-GB" sz="1400" dirty="0"/>
            </a:br>
            <a:r>
              <a:rPr lang="en-GB" sz="1400" dirty="0"/>
              <a:t>JOIN orders o2</a:t>
            </a:r>
            <a:br>
              <a:rPr lang="en-GB" sz="1400" dirty="0"/>
            </a:br>
            <a:r>
              <a:rPr lang="en-GB" sz="1400" dirty="0"/>
              <a:t>ON o1.Order_ID = o2.Order_ID</a:t>
            </a:r>
            <a:br>
              <a:rPr lang="en-GB" sz="1400" dirty="0"/>
            </a:br>
            <a:r>
              <a:rPr lang="en-GB" sz="1400" dirty="0"/>
              <a:t>AND o1.Order_Date &gt; o2.Order_Date;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70B5B-4D61-7AA4-A3CE-3C71F95F1185}"/>
              </a:ext>
            </a:extLst>
          </p:cNvPr>
          <p:cNvSpPr txBox="1"/>
          <p:nvPr/>
        </p:nvSpPr>
        <p:spPr>
          <a:xfrm>
            <a:off x="290945" y="2891632"/>
            <a:ext cx="94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Task 1.2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EE7EB-0C5E-13A8-82B1-87E1FBCB5CEA}"/>
              </a:ext>
            </a:extLst>
          </p:cNvPr>
          <p:cNvSpPr txBox="1"/>
          <p:nvPr/>
        </p:nvSpPr>
        <p:spPr>
          <a:xfrm>
            <a:off x="290944" y="3293408"/>
            <a:ext cx="5034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Replace null </a:t>
            </a:r>
            <a:r>
              <a:rPr lang="en-GB" dirty="0" err="1"/>
              <a:t>Traffic_Delay_Min</a:t>
            </a:r>
            <a:r>
              <a:rPr lang="en-GB" dirty="0"/>
              <a:t> with the average </a:t>
            </a:r>
          </a:p>
          <a:p>
            <a:r>
              <a:rPr lang="en-GB" dirty="0"/>
              <a:t>     delay for that route.</a:t>
            </a:r>
            <a:endParaRPr lang="en-US" dirty="0"/>
          </a:p>
        </p:txBody>
      </p:sp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3D32C185-2B95-8ACB-6DE4-76B4FE851641}"/>
              </a:ext>
            </a:extLst>
          </p:cNvPr>
          <p:cNvSpPr/>
          <p:nvPr/>
        </p:nvSpPr>
        <p:spPr>
          <a:xfrm>
            <a:off x="290945" y="4157161"/>
            <a:ext cx="4913140" cy="1896484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solidFill>
              <a:srgbClr val="FFFFFF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en-US" sz="1400" dirty="0"/>
              <a:t>UPDATE routes</a:t>
            </a:r>
            <a:br>
              <a:rPr lang="en-US" sz="1400" dirty="0"/>
            </a:br>
            <a:r>
              <a:rPr lang="en-US" sz="1400" dirty="0"/>
              <a:t>SET </a:t>
            </a:r>
            <a:r>
              <a:rPr lang="en-US" sz="1400" dirty="0" err="1"/>
              <a:t>Traffic_Delay_Min</a:t>
            </a:r>
            <a:r>
              <a:rPr lang="en-US" sz="1400" dirty="0"/>
              <a:t> = (</a:t>
            </a:r>
            <a:br>
              <a:rPr lang="en-US" sz="1400" dirty="0"/>
            </a:br>
            <a:r>
              <a:rPr lang="en-US" sz="1400" dirty="0"/>
              <a:t>SELECT AVG(</a:t>
            </a:r>
            <a:r>
              <a:rPr lang="en-US" sz="1400" dirty="0" err="1"/>
              <a:t>Traffic_Delay_Min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>FROM routes</a:t>
            </a:r>
            <a:br>
              <a:rPr lang="en-US" sz="1400" dirty="0"/>
            </a:br>
            <a:r>
              <a:rPr lang="en-US" sz="1400" dirty="0"/>
              <a:t>WHERE </a:t>
            </a:r>
            <a:r>
              <a:rPr lang="en-US" sz="1400" dirty="0" err="1"/>
              <a:t>Traffic_Delay_Min</a:t>
            </a:r>
            <a:r>
              <a:rPr lang="en-US" sz="1400" dirty="0"/>
              <a:t> IS NOT NULL</a:t>
            </a:r>
            <a:br>
              <a:rPr lang="en-US" sz="1400" dirty="0"/>
            </a:b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>WHERE </a:t>
            </a:r>
            <a:r>
              <a:rPr lang="en-US" sz="1400" dirty="0" err="1"/>
              <a:t>Traffic_Delay_Min</a:t>
            </a:r>
            <a:r>
              <a:rPr lang="en-US" sz="1400" dirty="0"/>
              <a:t> IS NULL;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CDA1F-A603-F09F-F130-1EA40581F6CB}"/>
              </a:ext>
            </a:extLst>
          </p:cNvPr>
          <p:cNvSpPr txBox="1"/>
          <p:nvPr/>
        </p:nvSpPr>
        <p:spPr>
          <a:xfrm>
            <a:off x="6866152" y="83118"/>
            <a:ext cx="94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Task 1.3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D6AB6F-4456-AAC8-958C-6470B7D26E84}"/>
              </a:ext>
            </a:extLst>
          </p:cNvPr>
          <p:cNvSpPr txBox="1"/>
          <p:nvPr/>
        </p:nvSpPr>
        <p:spPr>
          <a:xfrm>
            <a:off x="6866151" y="484894"/>
            <a:ext cx="5282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Convert all date columns into YYYY-MM-DD format </a:t>
            </a:r>
          </a:p>
          <a:p>
            <a:r>
              <a:rPr lang="en-GB" dirty="0"/>
              <a:t>     using SQL functions. </a:t>
            </a:r>
            <a:endParaRPr lang="en-US" dirty="0"/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230D4296-845A-4244-448A-9B45B3865352}"/>
              </a:ext>
            </a:extLst>
          </p:cNvPr>
          <p:cNvSpPr/>
          <p:nvPr/>
        </p:nvSpPr>
        <p:spPr>
          <a:xfrm>
            <a:off x="6987914" y="1163669"/>
            <a:ext cx="4913140" cy="2837323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solidFill>
              <a:srgbClr val="FFFFFF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en-GB" sz="1400" dirty="0"/>
              <a:t>UPDATE orders</a:t>
            </a:r>
          </a:p>
          <a:p>
            <a:pPr rtl="0"/>
            <a:r>
              <a:rPr lang="en-GB" sz="1400" dirty="0"/>
              <a:t>SET </a:t>
            </a:r>
            <a:r>
              <a:rPr lang="en-GB" sz="1400" dirty="0" err="1"/>
              <a:t>Order_Date</a:t>
            </a:r>
            <a:r>
              <a:rPr lang="en-GB" sz="1400" dirty="0"/>
              <a:t> = STR_TO_DATE(</a:t>
            </a:r>
          </a:p>
          <a:p>
            <a:pPr rtl="0"/>
            <a:r>
              <a:rPr lang="en-GB" sz="1400" dirty="0"/>
              <a:t>        DATE_FORMAT(</a:t>
            </a:r>
            <a:r>
              <a:rPr lang="en-GB" sz="1400" dirty="0" err="1"/>
              <a:t>Order_Date</a:t>
            </a:r>
            <a:r>
              <a:rPr lang="en-GB" sz="1400" dirty="0"/>
              <a:t>, '%Y-%m-%d'),'%Y-%m-%d'),</a:t>
            </a:r>
          </a:p>
          <a:p>
            <a:pPr rtl="0"/>
            <a:r>
              <a:rPr lang="en-GB" sz="1400" dirty="0"/>
              <a:t>    </a:t>
            </a:r>
            <a:r>
              <a:rPr lang="en-GB" sz="1400" dirty="0" err="1"/>
              <a:t>Expected_Delivery_Date</a:t>
            </a:r>
            <a:r>
              <a:rPr lang="en-GB" sz="1400" dirty="0"/>
              <a:t> = STR_TO_DATE(</a:t>
            </a:r>
          </a:p>
          <a:p>
            <a:pPr rtl="0"/>
            <a:r>
              <a:rPr lang="en-GB" sz="1400" dirty="0"/>
              <a:t>        DATE_FORMAT(</a:t>
            </a:r>
            <a:r>
              <a:rPr lang="en-GB" sz="1400" dirty="0" err="1"/>
              <a:t>Expected_Delivery_Date</a:t>
            </a:r>
            <a:r>
              <a:rPr lang="en-GB" sz="1400" dirty="0"/>
              <a:t>, '%Y-%m-%d'),</a:t>
            </a:r>
          </a:p>
          <a:p>
            <a:pPr rtl="0"/>
            <a:r>
              <a:rPr lang="en-GB" sz="1400" dirty="0"/>
              <a:t>        '%Y-%m-%d'),</a:t>
            </a:r>
          </a:p>
          <a:p>
            <a:pPr rtl="0"/>
            <a:r>
              <a:rPr lang="en-GB" sz="1400" dirty="0"/>
              <a:t>    </a:t>
            </a:r>
            <a:r>
              <a:rPr lang="en-GB" sz="1400" dirty="0" err="1"/>
              <a:t>Actual_Delivery_Date</a:t>
            </a:r>
            <a:r>
              <a:rPr lang="en-GB" sz="1400" dirty="0"/>
              <a:t> = STR_TO_DATE(</a:t>
            </a:r>
          </a:p>
          <a:p>
            <a:pPr rtl="0"/>
            <a:r>
              <a:rPr lang="en-GB" sz="1400" dirty="0"/>
              <a:t>        DATE_FORMAT(</a:t>
            </a:r>
            <a:r>
              <a:rPr lang="en-GB" sz="1400" dirty="0" err="1"/>
              <a:t>Actual_Delivery_Date</a:t>
            </a:r>
            <a:r>
              <a:rPr lang="en-GB" sz="1400" dirty="0"/>
              <a:t>, '%Y-%m-%d'),</a:t>
            </a:r>
          </a:p>
          <a:p>
            <a:pPr rtl="0"/>
            <a:r>
              <a:rPr lang="en-GB" sz="1400" dirty="0"/>
              <a:t>        '%Y-%m-%d');</a:t>
            </a:r>
          </a:p>
          <a:p>
            <a:pPr rtl="0"/>
            <a:r>
              <a:rPr lang="en-GB" sz="1400" dirty="0"/>
              <a:t>UPDATE </a:t>
            </a:r>
            <a:r>
              <a:rPr lang="en-GB" sz="1400" dirty="0" err="1"/>
              <a:t>shipment_tracking</a:t>
            </a:r>
            <a:endParaRPr lang="en-GB" sz="1400" dirty="0"/>
          </a:p>
          <a:p>
            <a:pPr rtl="0"/>
            <a:r>
              <a:rPr lang="en-GB" sz="1400" dirty="0"/>
              <a:t>SET </a:t>
            </a:r>
            <a:r>
              <a:rPr lang="en-GB" sz="1400" dirty="0" err="1"/>
              <a:t>Checkpoint_Time</a:t>
            </a:r>
            <a:r>
              <a:rPr lang="en-GB" sz="1400" dirty="0"/>
              <a:t> = STR_TO_DATE(DATE_FORMAT(</a:t>
            </a:r>
          </a:p>
          <a:p>
            <a:pPr rtl="0"/>
            <a:r>
              <a:rPr lang="en-GB" sz="1400" dirty="0" err="1"/>
              <a:t>Checkpoint_Time</a:t>
            </a:r>
            <a:r>
              <a:rPr lang="en-GB" sz="1400" dirty="0"/>
              <a:t>, '%Y-%m-%d'),'%Y-%m-%d');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8F3B6-441C-19C9-3B36-F3175C2C9DD7}"/>
              </a:ext>
            </a:extLst>
          </p:cNvPr>
          <p:cNvSpPr txBox="1"/>
          <p:nvPr/>
        </p:nvSpPr>
        <p:spPr>
          <a:xfrm>
            <a:off x="6866151" y="4171794"/>
            <a:ext cx="94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Task 1.4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EA9764-F0C6-EB4F-DFD8-3256F5D51DDE}"/>
              </a:ext>
            </a:extLst>
          </p:cNvPr>
          <p:cNvSpPr txBox="1"/>
          <p:nvPr/>
        </p:nvSpPr>
        <p:spPr>
          <a:xfrm>
            <a:off x="6866150" y="4573570"/>
            <a:ext cx="5034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Replace null </a:t>
            </a:r>
            <a:r>
              <a:rPr lang="en-GB" dirty="0" err="1"/>
              <a:t>Traffic_Delay_Min</a:t>
            </a:r>
            <a:r>
              <a:rPr lang="en-GB" dirty="0"/>
              <a:t> with the average </a:t>
            </a:r>
          </a:p>
          <a:p>
            <a:r>
              <a:rPr lang="en-GB" dirty="0"/>
              <a:t>     delay for that route.</a:t>
            </a:r>
            <a:endParaRPr lang="en-US" dirty="0"/>
          </a:p>
        </p:txBody>
      </p:sp>
      <p:sp>
        <p:nvSpPr>
          <p:cNvPr id="13" name="Rectangle: Rounded Corners 5">
            <a:extLst>
              <a:ext uri="{FF2B5EF4-FFF2-40B4-BE49-F238E27FC236}">
                <a16:creationId xmlns:a16="http://schemas.microsoft.com/office/drawing/2014/main" id="{5A148202-F387-B235-9599-EA58D29A5623}"/>
              </a:ext>
            </a:extLst>
          </p:cNvPr>
          <p:cNvSpPr/>
          <p:nvPr/>
        </p:nvSpPr>
        <p:spPr>
          <a:xfrm>
            <a:off x="6866150" y="5390703"/>
            <a:ext cx="4913140" cy="1261678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solidFill>
              <a:srgbClr val="FFFFFF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en-GB" sz="1400" dirty="0"/>
              <a:t>ALTER TABLE orders ADD COLUMN </a:t>
            </a:r>
            <a:r>
              <a:rPr lang="en-GB" sz="1400" dirty="0" err="1"/>
              <a:t>date_flag</a:t>
            </a:r>
            <a:r>
              <a:rPr lang="en-GB" sz="1400" dirty="0"/>
              <a:t> VARCHAR(10);</a:t>
            </a:r>
          </a:p>
          <a:p>
            <a:pPr rtl="0"/>
            <a:r>
              <a:rPr lang="en-GB" sz="1400" dirty="0"/>
              <a:t>UPDATE </a:t>
            </a:r>
            <a:r>
              <a:rPr lang="en-GB" sz="1400" dirty="0" err="1"/>
              <a:t>ordersSET</a:t>
            </a:r>
            <a:r>
              <a:rPr lang="en-GB" sz="1400" dirty="0"/>
              <a:t> </a:t>
            </a:r>
            <a:r>
              <a:rPr lang="en-GB" sz="1400" dirty="0" err="1"/>
              <a:t>date_flag</a:t>
            </a:r>
            <a:r>
              <a:rPr lang="en-GB" sz="1400" dirty="0"/>
              <a:t> = CASE     </a:t>
            </a:r>
          </a:p>
          <a:p>
            <a:pPr rtl="0"/>
            <a:r>
              <a:rPr lang="en-GB" sz="1400" dirty="0"/>
              <a:t>WHEN </a:t>
            </a:r>
            <a:r>
              <a:rPr lang="en-GB" sz="1400" dirty="0" err="1"/>
              <a:t>Actual_Delivery_Date</a:t>
            </a:r>
            <a:r>
              <a:rPr lang="en-GB" sz="1400" dirty="0"/>
              <a:t> &lt; </a:t>
            </a:r>
            <a:r>
              <a:rPr lang="en-GB" sz="1400" dirty="0" err="1"/>
              <a:t>Order_Date</a:t>
            </a:r>
            <a:r>
              <a:rPr lang="en-GB" sz="1400" dirty="0"/>
              <a:t> </a:t>
            </a:r>
          </a:p>
          <a:p>
            <a:pPr rtl="0"/>
            <a:r>
              <a:rPr lang="en-GB" sz="1400" dirty="0"/>
              <a:t>THEN 'Invalid'    ELSE '</a:t>
            </a:r>
            <a:r>
              <a:rPr lang="en-GB" sz="1400" dirty="0" err="1"/>
              <a:t>Valid'END</a:t>
            </a:r>
            <a:r>
              <a:rPr lang="en-GB" sz="1400" dirty="0"/>
              <a:t>;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05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3F2A42-7AAD-4A27-3E9E-63BF9FDBDFB7}"/>
              </a:ext>
            </a:extLst>
          </p:cNvPr>
          <p:cNvSpPr/>
          <p:nvPr/>
        </p:nvSpPr>
        <p:spPr>
          <a:xfrm>
            <a:off x="290945" y="1317078"/>
            <a:ext cx="5680364" cy="1494108"/>
          </a:xfrm>
          <a:prstGeom prst="roundRect">
            <a:avLst/>
          </a:prstGeom>
          <a:solidFill>
            <a:schemeClr val="tx1">
              <a:lumMod val="95000"/>
              <a:lumOff val="5000"/>
              <a:alpha val="34902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select </a:t>
            </a:r>
          </a:p>
          <a:p>
            <a:r>
              <a:rPr lang="en-GB" sz="1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</a:t>
            </a:r>
            <a:r>
              <a:rPr lang="en-GB" sz="160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Order_ID</a:t>
            </a:r>
            <a:r>
              <a:rPr lang="en-GB" sz="1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GB" sz="1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</a:t>
            </a:r>
            <a:r>
              <a:rPr lang="en-GB" sz="160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datediff</a:t>
            </a:r>
            <a:r>
              <a:rPr lang="en-GB" sz="1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GB" sz="160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Actual_delivery_date,Expected_Delivery_Date</a:t>
            </a:r>
            <a:r>
              <a:rPr lang="en-GB" sz="1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</a:p>
          <a:p>
            <a:r>
              <a:rPr lang="en-GB" sz="1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as </a:t>
            </a:r>
            <a:r>
              <a:rPr lang="en-GB" sz="160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delayed_days</a:t>
            </a:r>
            <a:r>
              <a:rPr lang="en-GB" sz="1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</a:p>
          <a:p>
            <a:r>
              <a:rPr lang="en-GB" sz="1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orders;</a:t>
            </a:r>
            <a:endParaRPr lang="en-US" sz="16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718E3-7A73-D948-174F-EBCD2B2D2F71}"/>
              </a:ext>
            </a:extLst>
          </p:cNvPr>
          <p:cNvSpPr txBox="1"/>
          <p:nvPr/>
        </p:nvSpPr>
        <p:spPr>
          <a:xfrm>
            <a:off x="290946" y="315347"/>
            <a:ext cx="94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Task 2.1</a:t>
            </a:r>
            <a:endParaRPr lang="en-US" b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FF0E96D-4739-91C4-4F2D-20F60C08CA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0100786"/>
              </p:ext>
            </p:extLst>
          </p:nvPr>
        </p:nvGraphicFramePr>
        <p:xfrm>
          <a:off x="321888" y="3265714"/>
          <a:ext cx="5680364" cy="3107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D2979B5-E59A-767D-1DB5-1C30B9A5B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288976"/>
              </p:ext>
            </p:extLst>
          </p:nvPr>
        </p:nvGraphicFramePr>
        <p:xfrm>
          <a:off x="6359238" y="267783"/>
          <a:ext cx="5541816" cy="6202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619">
                  <a:extLst>
                    <a:ext uri="{9D8B030D-6E8A-4147-A177-3AD203B41FA5}">
                      <a16:colId xmlns:a16="http://schemas.microsoft.com/office/drawing/2014/main" val="1641731669"/>
                    </a:ext>
                  </a:extLst>
                </a:gridCol>
                <a:gridCol w="3217197">
                  <a:extLst>
                    <a:ext uri="{9D8B030D-6E8A-4147-A177-3AD203B41FA5}">
                      <a16:colId xmlns:a16="http://schemas.microsoft.com/office/drawing/2014/main" val="1928728127"/>
                    </a:ext>
                  </a:extLst>
                </a:gridCol>
              </a:tblGrid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Order_ID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delayed_days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28792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O0001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50107547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4726956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O0003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95797599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2365084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O0005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702753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8089630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O0007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39778598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O0008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86623720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0487694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4361758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0716861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5272675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3040329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24462638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0522169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1656866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O0017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58569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2C1C648-CA67-44C1-F8FC-6D8B93B0CE78}"/>
              </a:ext>
            </a:extLst>
          </p:cNvPr>
          <p:cNvSpPr txBox="1"/>
          <p:nvPr/>
        </p:nvSpPr>
        <p:spPr>
          <a:xfrm>
            <a:off x="290945" y="760666"/>
            <a:ext cx="4913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Calculate delivery delay (in days) for each order.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645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5FA8EA-F3EA-07D6-BDA0-7C1A9DE18CE7}"/>
              </a:ext>
            </a:extLst>
          </p:cNvPr>
          <p:cNvSpPr/>
          <p:nvPr/>
        </p:nvSpPr>
        <p:spPr>
          <a:xfrm>
            <a:off x="318666" y="1140290"/>
            <a:ext cx="5735775" cy="2823623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solidFill>
              <a:srgbClr val="FFFFFF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bg1"/>
                </a:solidFill>
              </a:rPr>
              <a:t>SELECT    </a:t>
            </a:r>
          </a:p>
          <a:p>
            <a:r>
              <a:rPr lang="en-GB" sz="1400" dirty="0">
                <a:solidFill>
                  <a:schemeClr val="bg1"/>
                </a:solidFill>
              </a:rPr>
              <a:t>     </a:t>
            </a:r>
            <a:r>
              <a:rPr lang="en-GB" sz="1400" dirty="0" err="1">
                <a:solidFill>
                  <a:schemeClr val="bg1"/>
                </a:solidFill>
              </a:rPr>
              <a:t>Route_ID</a:t>
            </a:r>
            <a:r>
              <a:rPr lang="en-GB" sz="1400" dirty="0">
                <a:solidFill>
                  <a:schemeClr val="bg1"/>
                </a:solidFill>
              </a:rPr>
              <a:t>,</a:t>
            </a:r>
          </a:p>
          <a:p>
            <a:r>
              <a:rPr lang="en-GB" sz="1400" dirty="0">
                <a:solidFill>
                  <a:schemeClr val="bg1"/>
                </a:solidFill>
              </a:rPr>
              <a:t>     </a:t>
            </a:r>
            <a:r>
              <a:rPr lang="en-GB" sz="1400" dirty="0" err="1">
                <a:solidFill>
                  <a:schemeClr val="bg1"/>
                </a:solidFill>
              </a:rPr>
              <a:t>avg_delay_days</a:t>
            </a:r>
            <a:r>
              <a:rPr lang="en-GB" sz="1400" dirty="0">
                <a:solidFill>
                  <a:schemeClr val="bg1"/>
                </a:solidFill>
              </a:rPr>
              <a:t>,    </a:t>
            </a:r>
          </a:p>
          <a:p>
            <a:r>
              <a:rPr lang="en-GB" sz="1400" dirty="0">
                <a:solidFill>
                  <a:schemeClr val="bg1"/>
                </a:solidFill>
              </a:rPr>
              <a:t>     RANK() OVER (ORDER BY </a:t>
            </a:r>
            <a:r>
              <a:rPr lang="en-GB" sz="1400" dirty="0" err="1">
                <a:solidFill>
                  <a:schemeClr val="bg1"/>
                </a:solidFill>
              </a:rPr>
              <a:t>avg_delay_days</a:t>
            </a:r>
            <a:r>
              <a:rPr lang="en-GB" sz="1400" dirty="0">
                <a:solidFill>
                  <a:schemeClr val="bg1"/>
                </a:solidFill>
              </a:rPr>
              <a:t> DESC) AS </a:t>
            </a:r>
            <a:r>
              <a:rPr lang="en-GB" sz="1400" dirty="0" err="1">
                <a:solidFill>
                  <a:schemeClr val="bg1"/>
                </a:solidFill>
              </a:rPr>
              <a:t>route_rank</a:t>
            </a:r>
            <a:endParaRPr lang="en-GB" sz="1400" dirty="0">
              <a:solidFill>
                <a:schemeClr val="bg1"/>
              </a:solidFill>
            </a:endParaRPr>
          </a:p>
          <a:p>
            <a:r>
              <a:rPr lang="en-GB" sz="1400" dirty="0">
                <a:solidFill>
                  <a:schemeClr val="bg1"/>
                </a:solidFill>
              </a:rPr>
              <a:t>FROM (SELECT </a:t>
            </a:r>
          </a:p>
          <a:p>
            <a:r>
              <a:rPr lang="en-GB" sz="1400" dirty="0">
                <a:solidFill>
                  <a:schemeClr val="bg1"/>
                </a:solidFill>
              </a:rPr>
              <a:t>                  </a:t>
            </a:r>
            <a:r>
              <a:rPr lang="en-GB" sz="1400" dirty="0" err="1">
                <a:solidFill>
                  <a:schemeClr val="bg1"/>
                </a:solidFill>
              </a:rPr>
              <a:t>Route_ID</a:t>
            </a:r>
            <a:r>
              <a:rPr lang="en-GB" sz="1400" dirty="0">
                <a:solidFill>
                  <a:schemeClr val="bg1"/>
                </a:solidFill>
              </a:rPr>
              <a:t>,        </a:t>
            </a:r>
          </a:p>
          <a:p>
            <a:r>
              <a:rPr lang="en-GB" sz="1400" dirty="0">
                <a:solidFill>
                  <a:schemeClr val="bg1"/>
                </a:solidFill>
              </a:rPr>
              <a:t>                  AVG(DATEDIFF(</a:t>
            </a:r>
            <a:r>
              <a:rPr lang="en-GB" sz="1400" dirty="0" err="1">
                <a:solidFill>
                  <a:schemeClr val="bg1"/>
                </a:solidFill>
              </a:rPr>
              <a:t>Actual_Delivery_Date</a:t>
            </a:r>
            <a:r>
              <a:rPr lang="en-GB" sz="1400" dirty="0">
                <a:solidFill>
                  <a:schemeClr val="bg1"/>
                </a:solidFill>
              </a:rPr>
              <a:t>,</a:t>
            </a:r>
          </a:p>
          <a:p>
            <a:r>
              <a:rPr lang="en-GB" sz="1400" dirty="0">
                <a:solidFill>
                  <a:schemeClr val="bg1"/>
                </a:solidFill>
              </a:rPr>
              <a:t>                  </a:t>
            </a:r>
            <a:r>
              <a:rPr lang="en-GB" sz="1400" dirty="0" err="1">
                <a:solidFill>
                  <a:schemeClr val="bg1"/>
                </a:solidFill>
              </a:rPr>
              <a:t>Expected_Delivery_Date</a:t>
            </a:r>
            <a:r>
              <a:rPr lang="en-GB" sz="1400" dirty="0">
                <a:solidFill>
                  <a:schemeClr val="bg1"/>
                </a:solidFill>
              </a:rPr>
              <a:t> ) ) AS </a:t>
            </a:r>
            <a:r>
              <a:rPr lang="en-GB" sz="1400" dirty="0" err="1">
                <a:solidFill>
                  <a:schemeClr val="bg1"/>
                </a:solidFill>
              </a:rPr>
              <a:t>avg_delay_days</a:t>
            </a:r>
            <a:r>
              <a:rPr lang="en-GB" sz="1400" dirty="0">
                <a:solidFill>
                  <a:schemeClr val="bg1"/>
                </a:solidFill>
              </a:rPr>
              <a:t>    </a:t>
            </a:r>
          </a:p>
          <a:p>
            <a:r>
              <a:rPr lang="en-GB" sz="1400" dirty="0">
                <a:solidFill>
                  <a:schemeClr val="bg1"/>
                </a:solidFill>
              </a:rPr>
              <a:t>            FROM orders    </a:t>
            </a:r>
          </a:p>
          <a:p>
            <a:r>
              <a:rPr lang="en-GB" sz="1400" dirty="0">
                <a:solidFill>
                  <a:schemeClr val="bg1"/>
                </a:solidFill>
              </a:rPr>
              <a:t>            WHERE </a:t>
            </a:r>
            <a:r>
              <a:rPr lang="en-GB" sz="1400" dirty="0" err="1">
                <a:solidFill>
                  <a:schemeClr val="bg1"/>
                </a:solidFill>
              </a:rPr>
              <a:t>Delivery_Status</a:t>
            </a:r>
            <a:r>
              <a:rPr lang="en-GB" sz="1400" dirty="0">
                <a:solidFill>
                  <a:schemeClr val="bg1"/>
                </a:solidFill>
              </a:rPr>
              <a:t> = 'delayed'    </a:t>
            </a:r>
          </a:p>
          <a:p>
            <a:r>
              <a:rPr lang="en-GB" sz="1400" dirty="0">
                <a:solidFill>
                  <a:schemeClr val="bg1"/>
                </a:solidFill>
              </a:rPr>
              <a:t>            GROUP BY </a:t>
            </a:r>
            <a:r>
              <a:rPr lang="en-GB" sz="1400" dirty="0" err="1">
                <a:solidFill>
                  <a:schemeClr val="bg1"/>
                </a:solidFill>
              </a:rPr>
              <a:t>Route_ID</a:t>
            </a:r>
            <a:r>
              <a:rPr lang="en-GB" sz="1400" dirty="0">
                <a:solidFill>
                  <a:schemeClr val="bg1"/>
                </a:solidFill>
              </a:rPr>
              <a:t>) </a:t>
            </a:r>
          </a:p>
          <a:p>
            <a:r>
              <a:rPr lang="en-GB" sz="1400" dirty="0">
                <a:solidFill>
                  <a:schemeClr val="bg1"/>
                </a:solidFill>
              </a:rPr>
              <a:t>T LIMIT 10;</a:t>
            </a: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FE9EA76-38DF-68CF-20EA-F9A1570C7A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2429000"/>
              </p:ext>
            </p:extLst>
          </p:nvPr>
        </p:nvGraphicFramePr>
        <p:xfrm>
          <a:off x="318666" y="4113445"/>
          <a:ext cx="5735773" cy="2522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9240DD3-0F92-17B4-4820-8B52844E6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147942"/>
              </p:ext>
            </p:extLst>
          </p:nvPr>
        </p:nvGraphicFramePr>
        <p:xfrm>
          <a:off x="6400795" y="221668"/>
          <a:ext cx="5472539" cy="641466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24314">
                  <a:extLst>
                    <a:ext uri="{9D8B030D-6E8A-4147-A177-3AD203B41FA5}">
                      <a16:colId xmlns:a16="http://schemas.microsoft.com/office/drawing/2014/main" val="3422783241"/>
                    </a:ext>
                  </a:extLst>
                </a:gridCol>
                <a:gridCol w="2248989">
                  <a:extLst>
                    <a:ext uri="{9D8B030D-6E8A-4147-A177-3AD203B41FA5}">
                      <a16:colId xmlns:a16="http://schemas.microsoft.com/office/drawing/2014/main" val="592809970"/>
                    </a:ext>
                  </a:extLst>
                </a:gridCol>
                <a:gridCol w="1699236">
                  <a:extLst>
                    <a:ext uri="{9D8B030D-6E8A-4147-A177-3AD203B41FA5}">
                      <a16:colId xmlns:a16="http://schemas.microsoft.com/office/drawing/2014/main" val="1504916470"/>
                    </a:ext>
                  </a:extLst>
                </a:gridCol>
              </a:tblGrid>
              <a:tr h="5831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Route_ID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avg_delay_days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route_rank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54264204"/>
                  </a:ext>
                </a:extLst>
              </a:tr>
              <a:tr h="5831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R015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84328226"/>
                  </a:ext>
                </a:extLst>
              </a:tr>
              <a:tr h="5831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84479974"/>
                  </a:ext>
                </a:extLst>
              </a:tr>
              <a:tr h="5831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16026356"/>
                  </a:ext>
                </a:extLst>
              </a:tr>
              <a:tr h="5831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1.7143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76127059"/>
                  </a:ext>
                </a:extLst>
              </a:tr>
              <a:tr h="5831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1.6667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70588504"/>
                  </a:ext>
                </a:extLst>
              </a:tr>
              <a:tr h="5831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1.6667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62124168"/>
                  </a:ext>
                </a:extLst>
              </a:tr>
              <a:tr h="5831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1.625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11168030"/>
                  </a:ext>
                </a:extLst>
              </a:tr>
              <a:tr h="5831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1.6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1618735"/>
                  </a:ext>
                </a:extLst>
              </a:tr>
              <a:tr h="5831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1.6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78701549"/>
                  </a:ext>
                </a:extLst>
              </a:tr>
              <a:tr h="5831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1.5714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4227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7E1883-8977-3AE5-FF91-980CE3585221}"/>
              </a:ext>
            </a:extLst>
          </p:cNvPr>
          <p:cNvSpPr txBox="1"/>
          <p:nvPr/>
        </p:nvSpPr>
        <p:spPr>
          <a:xfrm>
            <a:off x="318666" y="221668"/>
            <a:ext cx="941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Task 2.2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275811-24F7-8E21-B4B6-F8E9A0985130}"/>
              </a:ext>
            </a:extLst>
          </p:cNvPr>
          <p:cNvSpPr txBox="1"/>
          <p:nvPr/>
        </p:nvSpPr>
        <p:spPr>
          <a:xfrm>
            <a:off x="318666" y="621427"/>
            <a:ext cx="582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Top 10 delayed routes based on average delay days. </a:t>
            </a:r>
          </a:p>
        </p:txBody>
      </p:sp>
    </p:spTree>
    <p:extLst>
      <p:ext uri="{BB962C8B-B14F-4D97-AF65-F5344CB8AC3E}">
        <p14:creationId xmlns:p14="http://schemas.microsoft.com/office/powerpoint/2010/main" val="212789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EF3A46-CB89-7245-A7B9-E11AB224EF9F}"/>
              </a:ext>
            </a:extLst>
          </p:cNvPr>
          <p:cNvSpPr txBox="1"/>
          <p:nvPr/>
        </p:nvSpPr>
        <p:spPr>
          <a:xfrm>
            <a:off x="290946" y="83118"/>
            <a:ext cx="944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2.3</a:t>
            </a:r>
            <a:endParaRPr lang="en-US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2722BA-86CC-0789-8C20-F5AF4533D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998755"/>
              </p:ext>
            </p:extLst>
          </p:nvPr>
        </p:nvGraphicFramePr>
        <p:xfrm>
          <a:off x="6470074" y="83117"/>
          <a:ext cx="5430980" cy="65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716">
                  <a:extLst>
                    <a:ext uri="{9D8B030D-6E8A-4147-A177-3AD203B41FA5}">
                      <a16:colId xmlns:a16="http://schemas.microsoft.com/office/drawing/2014/main" val="4062610973"/>
                    </a:ext>
                  </a:extLst>
                </a:gridCol>
                <a:gridCol w="1250868">
                  <a:extLst>
                    <a:ext uri="{9D8B030D-6E8A-4147-A177-3AD203B41FA5}">
                      <a16:colId xmlns:a16="http://schemas.microsoft.com/office/drawing/2014/main" val="2411609147"/>
                    </a:ext>
                  </a:extLst>
                </a:gridCol>
                <a:gridCol w="907801">
                  <a:extLst>
                    <a:ext uri="{9D8B030D-6E8A-4147-A177-3AD203B41FA5}">
                      <a16:colId xmlns:a16="http://schemas.microsoft.com/office/drawing/2014/main" val="4180633963"/>
                    </a:ext>
                  </a:extLst>
                </a:gridCol>
                <a:gridCol w="1435595">
                  <a:extLst>
                    <a:ext uri="{9D8B030D-6E8A-4147-A177-3AD203B41FA5}">
                      <a16:colId xmlns:a16="http://schemas.microsoft.com/office/drawing/2014/main" val="3772761169"/>
                    </a:ext>
                  </a:extLst>
                </a:gridCol>
              </a:tblGrid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Warehouse_ID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Order_ID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delay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delay_rank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16077659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O0222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01551003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O0238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36267484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W001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O0004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94875340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O0065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62171057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O0275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97397731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O0276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5177450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O0274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9060347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O0220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22749695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O0263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97860790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O0007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0418796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O0126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6665139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O0223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41289909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O0193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23291310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W001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O0047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78588829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O0057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98455450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O0186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47127902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O0042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92323888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O0160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67741416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O0171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49195670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O0199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4989977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O0022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08165546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O0107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82925178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W002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O0204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73262948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O0206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12300906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O0164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6997459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O0253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90646223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O0045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99210729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O0071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32428881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O0153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12641163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O0259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26238973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W003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O0184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3859383"/>
                  </a:ext>
                </a:extLst>
              </a:tr>
            </a:tbl>
          </a:graphicData>
        </a:graphic>
      </p:graphicFrame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1CF1571C-6854-BC5E-2404-EC84E0170C06}"/>
              </a:ext>
            </a:extLst>
          </p:cNvPr>
          <p:cNvSpPr/>
          <p:nvPr/>
        </p:nvSpPr>
        <p:spPr>
          <a:xfrm>
            <a:off x="290946" y="1237958"/>
            <a:ext cx="5735775" cy="3080824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SELECT 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c.Warehouse_ID,p.Order_ID</a:t>
            </a:r>
            <a:r>
              <a:rPr lang="en-US" sz="1400" dirty="0"/>
              <a:t>,</a:t>
            </a:r>
            <a:br>
              <a:rPr lang="en-US" sz="1400" dirty="0"/>
            </a:br>
            <a:r>
              <a:rPr lang="en-US" sz="1400" dirty="0"/>
              <a:t>    DATEDIFF(</a:t>
            </a:r>
            <a:r>
              <a:rPr lang="en-US" sz="1400" dirty="0" err="1"/>
              <a:t>p.Actual_Delivery_Date</a:t>
            </a:r>
            <a:r>
              <a:rPr lang="en-US" sz="1400" dirty="0"/>
              <a:t>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p.Expected_Delivery_Date</a:t>
            </a:r>
            <a:r>
              <a:rPr lang="en-US" sz="1400" dirty="0"/>
              <a:t>) as delay,</a:t>
            </a:r>
            <a:br>
              <a:rPr lang="en-US" sz="1400" dirty="0"/>
            </a:br>
            <a:r>
              <a:rPr lang="en-US" sz="1400" dirty="0"/>
              <a:t>    DENSE_RANK() </a:t>
            </a:r>
          </a:p>
          <a:p>
            <a:r>
              <a:rPr lang="en-US" sz="1400" dirty="0"/>
              <a:t>    OVER ( PARTITION BY </a:t>
            </a:r>
            <a:r>
              <a:rPr lang="en-US" sz="1400" dirty="0" err="1"/>
              <a:t>c.Warehouse_ID</a:t>
            </a:r>
            <a:br>
              <a:rPr lang="en-US" sz="1400" dirty="0"/>
            </a:br>
            <a:r>
              <a:rPr lang="en-US" sz="1400" dirty="0"/>
              <a:t>      ORDER BY DATEDIFF(</a:t>
            </a:r>
            <a:r>
              <a:rPr lang="en-US" sz="1400" dirty="0" err="1"/>
              <a:t>p.Actual_Delivery_Date</a:t>
            </a:r>
            <a:r>
              <a:rPr lang="en-US" sz="1400" dirty="0"/>
              <a:t>,</a:t>
            </a:r>
          </a:p>
          <a:p>
            <a:r>
              <a:rPr lang="en-US" sz="1400" dirty="0"/>
              <a:t>      </a:t>
            </a:r>
            <a:r>
              <a:rPr lang="en-US" sz="1400" dirty="0" err="1"/>
              <a:t>p.Expected_Delivery_Date</a:t>
            </a:r>
            <a:r>
              <a:rPr lang="en-US" sz="1400" dirty="0"/>
              <a:t>) desc</a:t>
            </a:r>
          </a:p>
          <a:p>
            <a:r>
              <a:rPr lang="en-US" sz="1400" dirty="0"/>
              <a:t>    ) AS </a:t>
            </a:r>
            <a:r>
              <a:rPr lang="en-US" sz="1400" dirty="0" err="1"/>
              <a:t>delay_rank</a:t>
            </a:r>
            <a:br>
              <a:rPr lang="en-US" sz="1400" dirty="0"/>
            </a:br>
            <a:r>
              <a:rPr lang="en-US" sz="1400" dirty="0"/>
              <a:t>FROM orders p</a:t>
            </a:r>
            <a:br>
              <a:rPr lang="en-US" sz="1400" dirty="0"/>
            </a:br>
            <a:r>
              <a:rPr lang="en-US" sz="1400" dirty="0"/>
              <a:t>JOIN warehouses c </a:t>
            </a:r>
            <a:br>
              <a:rPr lang="en-US" sz="1400" dirty="0"/>
            </a:br>
            <a:r>
              <a:rPr lang="en-US" sz="1400" dirty="0"/>
              <a:t>ON </a:t>
            </a:r>
            <a:r>
              <a:rPr lang="en-US" sz="1400" dirty="0" err="1"/>
              <a:t>p.Warehouse_ID</a:t>
            </a:r>
            <a:r>
              <a:rPr lang="en-US" sz="1400" dirty="0"/>
              <a:t> = </a:t>
            </a:r>
            <a:r>
              <a:rPr lang="en-US" sz="1400" dirty="0" err="1"/>
              <a:t>c.Warehouse_ID</a:t>
            </a:r>
            <a:br>
              <a:rPr lang="en-US" sz="1400" dirty="0"/>
            </a:br>
            <a:r>
              <a:rPr lang="en-US" sz="1400" dirty="0"/>
              <a:t>WHERE </a:t>
            </a:r>
            <a:r>
              <a:rPr lang="en-US" sz="1400" dirty="0" err="1"/>
              <a:t>p.Delivery_Status</a:t>
            </a:r>
            <a:r>
              <a:rPr lang="en-US" sz="1400" dirty="0"/>
              <a:t> = 'delayed';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0071-6B3C-0284-C331-D6EFAD505284}"/>
              </a:ext>
            </a:extLst>
          </p:cNvPr>
          <p:cNvSpPr txBox="1"/>
          <p:nvPr/>
        </p:nvSpPr>
        <p:spPr>
          <a:xfrm>
            <a:off x="290946" y="461804"/>
            <a:ext cx="5721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window functions to rank all orders by delay within </a:t>
            </a:r>
          </a:p>
          <a:p>
            <a:r>
              <a:rPr lang="en-US" dirty="0"/>
              <a:t>      each warehouse.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1C6A61C-D5EF-8417-BB5F-61E6D3BFF5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621492"/>
              </p:ext>
            </p:extLst>
          </p:nvPr>
        </p:nvGraphicFramePr>
        <p:xfrm>
          <a:off x="290946" y="4448605"/>
          <a:ext cx="5735775" cy="219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49177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AC6BA5-4C65-9924-EEA1-3CCA6D8B289D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3.1.1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0ECDAEF7-D2B7-8581-4E11-21E3CC963630}"/>
              </a:ext>
            </a:extLst>
          </p:cNvPr>
          <p:cNvSpPr/>
          <p:nvPr/>
        </p:nvSpPr>
        <p:spPr>
          <a:xfrm>
            <a:off x="290946" y="1069142"/>
            <a:ext cx="5735775" cy="1730329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Route_ID</a:t>
            </a:r>
            <a:r>
              <a:rPr lang="en-US" sz="1400" dirty="0"/>
              <a:t>,</a:t>
            </a:r>
          </a:p>
          <a:p>
            <a:r>
              <a:rPr lang="en-US" sz="1400" dirty="0"/>
              <a:t>    ROUND( AVG( DATEDIFF(</a:t>
            </a:r>
            <a:r>
              <a:rPr lang="en-US" sz="1400" dirty="0" err="1"/>
              <a:t>Actual_Delivery_Date</a:t>
            </a:r>
            <a:r>
              <a:rPr lang="en-US" sz="1400" dirty="0"/>
              <a:t>, </a:t>
            </a:r>
            <a:r>
              <a:rPr lang="en-US" sz="1400" dirty="0" err="1"/>
              <a:t>Order_Date</a:t>
            </a:r>
            <a:r>
              <a:rPr lang="en-US" sz="1400" dirty="0"/>
              <a:t>))) </a:t>
            </a:r>
          </a:p>
          <a:p>
            <a:r>
              <a:rPr lang="en-US" sz="1400" dirty="0"/>
              <a:t>    AS </a:t>
            </a:r>
            <a:r>
              <a:rPr lang="en-US" sz="1400" dirty="0" err="1"/>
              <a:t>average_delivery_days</a:t>
            </a:r>
            <a:r>
              <a:rPr lang="en-US" sz="1400" dirty="0"/>
              <a:t> </a:t>
            </a:r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Route_ID</a:t>
            </a:r>
            <a:endParaRPr lang="en-US" sz="1400" dirty="0"/>
          </a:p>
          <a:p>
            <a:r>
              <a:rPr lang="en-US" sz="1400" dirty="0"/>
              <a:t>ORDER BY </a:t>
            </a:r>
            <a:r>
              <a:rPr lang="en-US" sz="1400" dirty="0" err="1"/>
              <a:t>Route_ID</a:t>
            </a:r>
            <a:r>
              <a:rPr lang="en-US" sz="1400" dirty="0"/>
              <a:t>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E2EC7-0547-6126-09E0-C1FA0063372A}"/>
              </a:ext>
            </a:extLst>
          </p:cNvPr>
          <p:cNvSpPr txBox="1"/>
          <p:nvPr/>
        </p:nvSpPr>
        <p:spPr>
          <a:xfrm>
            <a:off x="290946" y="461804"/>
            <a:ext cx="582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route, calculate Average delivery time (in days).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D4E941-0986-8EE7-7665-FE512C781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817465"/>
              </p:ext>
            </p:extLst>
          </p:nvPr>
        </p:nvGraphicFramePr>
        <p:xfrm>
          <a:off x="6406076" y="267782"/>
          <a:ext cx="5494978" cy="632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487">
                  <a:extLst>
                    <a:ext uri="{9D8B030D-6E8A-4147-A177-3AD203B41FA5}">
                      <a16:colId xmlns:a16="http://schemas.microsoft.com/office/drawing/2014/main" val="1154405317"/>
                    </a:ext>
                  </a:extLst>
                </a:gridCol>
                <a:gridCol w="3263491">
                  <a:extLst>
                    <a:ext uri="{9D8B030D-6E8A-4147-A177-3AD203B41FA5}">
                      <a16:colId xmlns:a16="http://schemas.microsoft.com/office/drawing/2014/main" val="964112000"/>
                    </a:ext>
                  </a:extLst>
                </a:gridCol>
              </a:tblGrid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Route_ID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average_delivery_days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9329967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R001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81552686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4888238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05868167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23673761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97831760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08067752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43990707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09862577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3539911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654006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12136582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49963682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71729775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7157337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36668855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63520112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1280267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87328780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75246750"/>
                  </a:ext>
                </a:extLst>
              </a:tr>
              <a:tr h="3014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4785414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4A3E891-6B7D-F2A4-9472-FD0804D1D8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0851986"/>
              </p:ext>
            </p:extLst>
          </p:nvPr>
        </p:nvGraphicFramePr>
        <p:xfrm>
          <a:off x="271627" y="3037477"/>
          <a:ext cx="5755094" cy="3560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9662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053179-229B-CD95-1C36-D1DF9A0A92A7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3.1.2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5A1D742D-CF2E-8395-6708-7B1F63C2A8B9}"/>
              </a:ext>
            </a:extLst>
          </p:cNvPr>
          <p:cNvSpPr/>
          <p:nvPr/>
        </p:nvSpPr>
        <p:spPr>
          <a:xfrm>
            <a:off x="290945" y="810969"/>
            <a:ext cx="5821081" cy="2618031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with </a:t>
            </a:r>
            <a:r>
              <a:rPr lang="en-US" sz="1400" dirty="0" err="1"/>
              <a:t>Rout_traffic</a:t>
            </a:r>
            <a:r>
              <a:rPr lang="en-US" sz="1400" dirty="0"/>
              <a:t> as(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o.Route_ID</a:t>
            </a:r>
            <a:r>
              <a:rPr lang="en-US" sz="1400" dirty="0"/>
              <a:t>, </a:t>
            </a:r>
            <a:r>
              <a:rPr lang="en-US" sz="1400" dirty="0" err="1"/>
              <a:t>s.Order_ID</a:t>
            </a:r>
            <a:r>
              <a:rPr lang="en-US" sz="1400" dirty="0"/>
              <a:t>, COUNT(*) AS </a:t>
            </a:r>
            <a:r>
              <a:rPr lang="en-US" sz="1400" dirty="0" err="1"/>
              <a:t>delayed_count_per_order</a:t>
            </a:r>
            <a:r>
              <a:rPr lang="en-US" sz="1400" dirty="0"/>
              <a:t>    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shipment_tracking</a:t>
            </a:r>
            <a:r>
              <a:rPr lang="en-US" sz="1400" dirty="0"/>
              <a:t> s     </a:t>
            </a:r>
          </a:p>
          <a:p>
            <a:r>
              <a:rPr lang="en-US" sz="1400" dirty="0"/>
              <a:t>JOIN orders o         </a:t>
            </a:r>
          </a:p>
          <a:p>
            <a:r>
              <a:rPr lang="en-US" sz="1400" dirty="0"/>
              <a:t>ON </a:t>
            </a:r>
            <a:r>
              <a:rPr lang="en-US" sz="1400" dirty="0" err="1"/>
              <a:t>s.Order_ID</a:t>
            </a:r>
            <a:r>
              <a:rPr lang="en-US" sz="1400" dirty="0"/>
              <a:t> = </a:t>
            </a:r>
            <a:r>
              <a:rPr lang="en-US" sz="1400" dirty="0" err="1"/>
              <a:t>o.Order_ID</a:t>
            </a:r>
            <a:r>
              <a:rPr lang="en-US" sz="1400" dirty="0"/>
              <a:t>    </a:t>
            </a:r>
          </a:p>
          <a:p>
            <a:r>
              <a:rPr lang="en-US" sz="1400" dirty="0"/>
              <a:t>WHERE </a:t>
            </a:r>
            <a:r>
              <a:rPr lang="en-US" sz="1400" dirty="0" err="1"/>
              <a:t>s.Delay_Reason</a:t>
            </a:r>
            <a:r>
              <a:rPr lang="en-US" sz="1400" dirty="0"/>
              <a:t> = 'Traffic'    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o.Route_ID</a:t>
            </a:r>
            <a:r>
              <a:rPr lang="en-US" sz="1400" dirty="0"/>
              <a:t>, </a:t>
            </a:r>
            <a:r>
              <a:rPr lang="en-US" sz="1400" dirty="0" err="1"/>
              <a:t>s.Order_ID</a:t>
            </a:r>
            <a:r>
              <a:rPr lang="en-US" sz="1400" dirty="0"/>
              <a:t>)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rt.Route_ID</a:t>
            </a:r>
            <a:r>
              <a:rPr lang="en-US" sz="1400" dirty="0"/>
              <a:t>,</a:t>
            </a:r>
          </a:p>
          <a:p>
            <a:r>
              <a:rPr lang="en-US" sz="1400" dirty="0"/>
              <a:t>round(avg(</a:t>
            </a:r>
            <a:r>
              <a:rPr lang="en-US" sz="1400" dirty="0" err="1"/>
              <a:t>rt.delayed_count_per_order</a:t>
            </a:r>
            <a:r>
              <a:rPr lang="en-US" sz="1400" dirty="0"/>
              <a:t>*</a:t>
            </a:r>
            <a:r>
              <a:rPr lang="en-US" sz="1400" dirty="0" err="1"/>
              <a:t>r.Traffic_Delay_Min</a:t>
            </a:r>
            <a:r>
              <a:rPr lang="en-US" sz="1400" dirty="0"/>
              <a:t>),1) as </a:t>
            </a:r>
            <a:r>
              <a:rPr lang="en-US" sz="1400" dirty="0" err="1"/>
              <a:t>total_delay</a:t>
            </a:r>
            <a:r>
              <a:rPr lang="en-US" sz="1400" dirty="0"/>
              <a:t> 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Rout_traffic</a:t>
            </a:r>
            <a:r>
              <a:rPr lang="en-US" sz="1400" dirty="0"/>
              <a:t> rt </a:t>
            </a:r>
          </a:p>
          <a:p>
            <a:r>
              <a:rPr lang="en-US" sz="1400" dirty="0"/>
              <a:t>join routes r on </a:t>
            </a:r>
            <a:r>
              <a:rPr lang="en-US" sz="1400" dirty="0" err="1"/>
              <a:t>rt.Route_Id</a:t>
            </a:r>
            <a:r>
              <a:rPr lang="en-US" sz="1400" dirty="0"/>
              <a:t>=</a:t>
            </a:r>
            <a:r>
              <a:rPr lang="en-US" sz="1400" dirty="0" err="1"/>
              <a:t>r.Route_ID</a:t>
            </a:r>
            <a:r>
              <a:rPr lang="en-US" sz="1400" dirty="0"/>
              <a:t> group by </a:t>
            </a:r>
            <a:r>
              <a:rPr lang="en-US" sz="1400" dirty="0" err="1"/>
              <a:t>rt.Route_ID</a:t>
            </a:r>
            <a:r>
              <a:rPr lang="en-US" sz="1400" dirty="0"/>
              <a:t>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636D1-C111-82BB-2806-12FB37A76BDC}"/>
              </a:ext>
            </a:extLst>
          </p:cNvPr>
          <p:cNvSpPr txBox="1"/>
          <p:nvPr/>
        </p:nvSpPr>
        <p:spPr>
          <a:xfrm>
            <a:off x="290946" y="433668"/>
            <a:ext cx="4893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route, calculate Average traffic delay.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620B9B-B8BA-6635-BF47-8792CF8F1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648100"/>
              </p:ext>
            </p:extLst>
          </p:nvPr>
        </p:nvGraphicFramePr>
        <p:xfrm>
          <a:off x="6381846" y="267784"/>
          <a:ext cx="5519207" cy="6358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782">
                  <a:extLst>
                    <a:ext uri="{9D8B030D-6E8A-4147-A177-3AD203B41FA5}">
                      <a16:colId xmlns:a16="http://schemas.microsoft.com/office/drawing/2014/main" val="1252114466"/>
                    </a:ext>
                  </a:extLst>
                </a:gridCol>
                <a:gridCol w="2929425">
                  <a:extLst>
                    <a:ext uri="{9D8B030D-6E8A-4147-A177-3AD203B41FA5}">
                      <a16:colId xmlns:a16="http://schemas.microsoft.com/office/drawing/2014/main" val="1656272218"/>
                    </a:ext>
                  </a:extLst>
                </a:gridCol>
              </a:tblGrid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Route_ID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total_delay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49466837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R013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60.8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31470189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R005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47.3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94564078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33.1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572577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29.3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37543527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34.5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43452825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R011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42.5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77951027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70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06693602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92.8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27607809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5.3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69508876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36.3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22596312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61.8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7385213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66.3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06436871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61.7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14915481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11.6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15400414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40.5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41710198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20383740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46.4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12230273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14.7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84069992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11.2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8825582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53.7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588184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546B984-72BC-6CB1-C143-7E2392E172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1873901"/>
              </p:ext>
            </p:extLst>
          </p:nvPr>
        </p:nvGraphicFramePr>
        <p:xfrm>
          <a:off x="290945" y="3554171"/>
          <a:ext cx="5735775" cy="307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5150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6C5C7D-BE2D-F82C-086B-F848CFA1090D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3.1.3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EE8ACA4C-F6A7-F032-BFA9-C619ED2B5DE8}"/>
              </a:ext>
            </a:extLst>
          </p:cNvPr>
          <p:cNvSpPr/>
          <p:nvPr/>
        </p:nvSpPr>
        <p:spPr>
          <a:xfrm>
            <a:off x="290946" y="1350502"/>
            <a:ext cx="5735775" cy="1252021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Route_ID</a:t>
            </a:r>
            <a:r>
              <a:rPr lang="en-US" sz="1400" dirty="0"/>
              <a:t>, </a:t>
            </a:r>
          </a:p>
          <a:p>
            <a:r>
              <a:rPr lang="en-US" sz="1400" dirty="0"/>
              <a:t>    round( </a:t>
            </a:r>
            <a:r>
              <a:rPr lang="en-US" sz="1400" dirty="0" err="1"/>
              <a:t>Distance_KM</a:t>
            </a:r>
            <a:r>
              <a:rPr lang="en-US" sz="1400" dirty="0"/>
              <a:t> / Average_Travel_Time_Min,2) as </a:t>
            </a:r>
            <a:r>
              <a:rPr lang="en-US" sz="1400" dirty="0" err="1"/>
              <a:t>efficient_ratio</a:t>
            </a:r>
            <a:r>
              <a:rPr lang="en-US" sz="1400" dirty="0"/>
              <a:t> </a:t>
            </a:r>
          </a:p>
          <a:p>
            <a:r>
              <a:rPr lang="en-US" sz="1400" dirty="0"/>
              <a:t>from routes;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94C9C7-5A82-FBA8-B798-5746DFE0ED74}"/>
              </a:ext>
            </a:extLst>
          </p:cNvPr>
          <p:cNvSpPr txBox="1"/>
          <p:nvPr/>
        </p:nvSpPr>
        <p:spPr>
          <a:xfrm>
            <a:off x="290946" y="475872"/>
            <a:ext cx="580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route, calculate Distance-to-time efficiency ratio: </a:t>
            </a:r>
            <a:r>
              <a:rPr lang="en-US" dirty="0" err="1"/>
              <a:t>Distance_KM</a:t>
            </a:r>
            <a:r>
              <a:rPr lang="en-US" dirty="0"/>
              <a:t> / </a:t>
            </a:r>
            <a:r>
              <a:rPr lang="en-US" dirty="0" err="1"/>
              <a:t>Average_Travel_Time_Min</a:t>
            </a:r>
            <a:r>
              <a:rPr lang="en-US" dirty="0"/>
              <a:t>.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DFECC94-A615-525F-3B25-A7FC1BBF34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6122884"/>
              </p:ext>
            </p:extLst>
          </p:nvPr>
        </p:nvGraphicFramePr>
        <p:xfrm>
          <a:off x="290946" y="2830822"/>
          <a:ext cx="5735775" cy="37950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D7EF6D-C537-60C1-FA4F-ECD690688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401564"/>
              </p:ext>
            </p:extLst>
          </p:nvPr>
        </p:nvGraphicFramePr>
        <p:xfrm>
          <a:off x="6380576" y="267784"/>
          <a:ext cx="5520477" cy="6358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919">
                  <a:extLst>
                    <a:ext uri="{9D8B030D-6E8A-4147-A177-3AD203B41FA5}">
                      <a16:colId xmlns:a16="http://schemas.microsoft.com/office/drawing/2014/main" val="1488994955"/>
                    </a:ext>
                  </a:extLst>
                </a:gridCol>
                <a:gridCol w="3402558">
                  <a:extLst>
                    <a:ext uri="{9D8B030D-6E8A-4147-A177-3AD203B41FA5}">
                      <a16:colId xmlns:a16="http://schemas.microsoft.com/office/drawing/2014/main" val="2565830546"/>
                    </a:ext>
                  </a:extLst>
                </a:gridCol>
              </a:tblGrid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effectLst/>
                        </a:rPr>
                        <a:t>Route_ID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effectLst/>
                        </a:rPr>
                        <a:t>efficient_ratio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18488071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R001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0.61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03863605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2.16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03224824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0.58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30246405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R004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4.28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4119949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0.37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1526730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73700795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0.28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16540289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0.24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77146284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0089861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0.67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35786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0.96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10483875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9658518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0.93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90916294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2.28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45775863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45643330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0.15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51866093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0.33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4405309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0.54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64430403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3.77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00064413"/>
                  </a:ext>
                </a:extLst>
              </a:tr>
              <a:tr h="302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0.55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588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340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4345CC-73C0-5954-2A18-21419EDDD33E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3.2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0A517702-D2F7-E66B-F9D4-D8FD8924D57D}"/>
              </a:ext>
            </a:extLst>
          </p:cNvPr>
          <p:cNvSpPr/>
          <p:nvPr/>
        </p:nvSpPr>
        <p:spPr>
          <a:xfrm>
            <a:off x="290946" y="956609"/>
            <a:ext cx="5617485" cy="1519305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SELECT   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Route_ID</a:t>
            </a:r>
            <a:r>
              <a:rPr lang="en-US" sz="1400" dirty="0"/>
              <a:t>,    </a:t>
            </a:r>
          </a:p>
          <a:p>
            <a:r>
              <a:rPr lang="en-US" sz="1400" dirty="0"/>
              <a:t>    ROUND(</a:t>
            </a:r>
            <a:r>
              <a:rPr lang="en-US" sz="1400" dirty="0" err="1"/>
              <a:t>Distance_KM</a:t>
            </a:r>
            <a:r>
              <a:rPr lang="en-US" sz="1400" dirty="0"/>
              <a:t> / Average_Travel_Time_Min,2) AS </a:t>
            </a:r>
            <a:r>
              <a:rPr lang="en-US" sz="1400" dirty="0" err="1"/>
              <a:t>efficiency_ratio</a:t>
            </a:r>
            <a:endParaRPr lang="en-US" sz="1400" dirty="0"/>
          </a:p>
          <a:p>
            <a:r>
              <a:rPr lang="en-US" sz="1400" dirty="0"/>
              <a:t>FROM routes</a:t>
            </a:r>
          </a:p>
          <a:p>
            <a:r>
              <a:rPr lang="en-US" sz="1400" dirty="0"/>
              <a:t>ORDER BY </a:t>
            </a:r>
            <a:r>
              <a:rPr lang="en-US" sz="1400" dirty="0" err="1"/>
              <a:t>efficiency_ratio</a:t>
            </a:r>
            <a:endParaRPr lang="en-US" sz="1400" dirty="0"/>
          </a:p>
          <a:p>
            <a:r>
              <a:rPr lang="en-US" sz="1400" dirty="0"/>
              <a:t>LIMIT 3;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93800-82EE-D33F-3CE0-6E6B26E6B18D}"/>
              </a:ext>
            </a:extLst>
          </p:cNvPr>
          <p:cNvSpPr txBox="1"/>
          <p:nvPr/>
        </p:nvSpPr>
        <p:spPr>
          <a:xfrm>
            <a:off x="290946" y="475872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3 routes with the worst efficiency ratio.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2941EA-2D7C-80EA-E1CF-BD9912243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505208"/>
              </p:ext>
            </p:extLst>
          </p:nvPr>
        </p:nvGraphicFramePr>
        <p:xfrm>
          <a:off x="290945" y="2632071"/>
          <a:ext cx="5617485" cy="1282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173">
                  <a:extLst>
                    <a:ext uri="{9D8B030D-6E8A-4147-A177-3AD203B41FA5}">
                      <a16:colId xmlns:a16="http://schemas.microsoft.com/office/drawing/2014/main" val="2899264096"/>
                    </a:ext>
                  </a:extLst>
                </a:gridCol>
                <a:gridCol w="2872312">
                  <a:extLst>
                    <a:ext uri="{9D8B030D-6E8A-4147-A177-3AD203B41FA5}">
                      <a16:colId xmlns:a16="http://schemas.microsoft.com/office/drawing/2014/main" val="2804968687"/>
                    </a:ext>
                  </a:extLst>
                </a:gridCol>
              </a:tblGrid>
              <a:tr h="320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effectLst/>
                        </a:rPr>
                        <a:t>Route_ID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effectLst/>
                        </a:rPr>
                        <a:t>efficient_ratio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00347728"/>
                  </a:ext>
                </a:extLst>
              </a:tr>
              <a:tr h="320546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R016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0.15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1378652"/>
                  </a:ext>
                </a:extLst>
              </a:tr>
              <a:tr h="320546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37235729"/>
                  </a:ext>
                </a:extLst>
              </a:tr>
              <a:tr h="320546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4759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C72A91-2E1C-0F22-3940-2FAE4FBB4B17}"/>
              </a:ext>
            </a:extLst>
          </p:cNvPr>
          <p:cNvSpPr txBox="1"/>
          <p:nvPr/>
        </p:nvSpPr>
        <p:spPr>
          <a:xfrm>
            <a:off x="6281439" y="111254"/>
            <a:ext cx="1427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3.3</a:t>
            </a:r>
            <a:endParaRPr lang="en-US" b="1" dirty="0"/>
          </a:p>
        </p:txBody>
      </p:sp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D4589DD2-16A6-E401-6FAD-48C6493BBDF4}"/>
              </a:ext>
            </a:extLst>
          </p:cNvPr>
          <p:cNvSpPr/>
          <p:nvPr/>
        </p:nvSpPr>
        <p:spPr>
          <a:xfrm>
            <a:off x="6281441" y="996466"/>
            <a:ext cx="5617485" cy="1198094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Route_ID</a:t>
            </a:r>
            <a:r>
              <a:rPr lang="en-US" sz="1400" dirty="0"/>
              <a:t>,(COUNT(CASE WHEN </a:t>
            </a:r>
            <a:r>
              <a:rPr lang="en-US" sz="1400" dirty="0" err="1"/>
              <a:t>Delivery_Status</a:t>
            </a:r>
            <a:r>
              <a:rPr lang="en-US" sz="1400" dirty="0"/>
              <a:t> = 'Delayed' THEN 1 END)</a:t>
            </a:r>
          </a:p>
          <a:p>
            <a:r>
              <a:rPr lang="en-US" sz="1400" dirty="0"/>
              <a:t>    * 100.0 / COUNT(*)) AS </a:t>
            </a:r>
            <a:r>
              <a:rPr lang="en-US" sz="1400" dirty="0" err="1"/>
              <a:t>delayed_shipment_rate</a:t>
            </a:r>
            <a:endParaRPr lang="en-US" sz="1400" dirty="0"/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Route_ID</a:t>
            </a:r>
            <a:r>
              <a:rPr lang="en-US" sz="1400" dirty="0"/>
              <a:t> HAVING </a:t>
            </a:r>
            <a:r>
              <a:rPr lang="en-US" sz="1400" dirty="0" err="1"/>
              <a:t>delayed_shipment_rate</a:t>
            </a:r>
            <a:r>
              <a:rPr lang="en-US" sz="1400" dirty="0"/>
              <a:t> &gt; 20;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1D7B9A-3A8D-FA86-1EE5-FB56A18F7807}"/>
              </a:ext>
            </a:extLst>
          </p:cNvPr>
          <p:cNvSpPr txBox="1"/>
          <p:nvPr/>
        </p:nvSpPr>
        <p:spPr>
          <a:xfrm>
            <a:off x="6281441" y="515728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routes with &gt;20% delayed shipments.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406BA8-1D9C-8F0C-B610-B269B88A1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188930"/>
              </p:ext>
            </p:extLst>
          </p:nvPr>
        </p:nvGraphicFramePr>
        <p:xfrm>
          <a:off x="6281439" y="2321172"/>
          <a:ext cx="5617485" cy="436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066">
                  <a:extLst>
                    <a:ext uri="{9D8B030D-6E8A-4147-A177-3AD203B41FA5}">
                      <a16:colId xmlns:a16="http://schemas.microsoft.com/office/drawing/2014/main" val="2017866633"/>
                    </a:ext>
                  </a:extLst>
                </a:gridCol>
                <a:gridCol w="3823419">
                  <a:extLst>
                    <a:ext uri="{9D8B030D-6E8A-4147-A177-3AD203B41FA5}">
                      <a16:colId xmlns:a16="http://schemas.microsoft.com/office/drawing/2014/main" val="3930104182"/>
                    </a:ext>
                  </a:extLst>
                </a:gridCol>
              </a:tblGrid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 err="1">
                          <a:effectLst/>
                        </a:rPr>
                        <a:t>Route_ID</a:t>
                      </a:r>
                      <a:endParaRPr lang="en-US" sz="13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 err="1">
                          <a:effectLst/>
                        </a:rPr>
                        <a:t>delayed_shipment_rate</a:t>
                      </a:r>
                      <a:endParaRPr lang="en-US" sz="13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93676858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R005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46.67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1426266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R004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50.00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57998097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R013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52.94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17745854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R012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66.67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12139198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R002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31.82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14735419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R020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70.59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70235954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R008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31.25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43267351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R011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45.00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5869868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R017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57.14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96293304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R014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38.46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92599341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R007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43.75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7745827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R006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36.36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75980520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R003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40.00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48624185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R015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50.00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43539085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R009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37.50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72667161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R010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45.00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46941444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R019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30.77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74265461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R016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25.00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41097189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R001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40.00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02891741"/>
                  </a:ext>
                </a:extLst>
              </a:tr>
              <a:tr h="184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>
                          <a:effectLst/>
                        </a:rPr>
                        <a:t>R018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u="none" strike="noStrike" dirty="0">
                          <a:effectLst/>
                        </a:rPr>
                        <a:t>40.00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340478"/>
                  </a:ext>
                </a:extLst>
              </a:tr>
            </a:tbl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5B95178-57F4-6F7C-1DD2-7C20CDD948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413971"/>
              </p:ext>
            </p:extLst>
          </p:nvPr>
        </p:nvGraphicFramePr>
        <p:xfrm>
          <a:off x="290945" y="4070413"/>
          <a:ext cx="5617485" cy="26113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96957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21D4CB-8D6C-9E91-9B58-FC968A84FE13}"/>
              </a:ext>
            </a:extLst>
          </p:cNvPr>
          <p:cNvSpPr txBox="1"/>
          <p:nvPr/>
        </p:nvSpPr>
        <p:spPr>
          <a:xfrm>
            <a:off x="393257" y="194382"/>
            <a:ext cx="1427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3.4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61CC2-97AB-4135-87C0-80590B66B9CF}"/>
              </a:ext>
            </a:extLst>
          </p:cNvPr>
          <p:cNvSpPr txBox="1"/>
          <p:nvPr/>
        </p:nvSpPr>
        <p:spPr>
          <a:xfrm>
            <a:off x="393257" y="563714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Recommend potential routes for optimization</a:t>
            </a:r>
            <a:r>
              <a:rPr lang="en-GB" sz="1800" dirty="0">
                <a:solidFill>
                  <a:schemeClr val="bg1"/>
                </a:solidFill>
              </a:rPr>
              <a:t>.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96BB00-19D0-22F4-6091-813E59DC584F}"/>
              </a:ext>
            </a:extLst>
          </p:cNvPr>
          <p:cNvSpPr/>
          <p:nvPr/>
        </p:nvSpPr>
        <p:spPr>
          <a:xfrm>
            <a:off x="393257" y="1240413"/>
            <a:ext cx="5735775" cy="1252021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-- Route No20 was the worst performing route having around 70% od delay rate for its order and low delivery </a:t>
            </a:r>
            <a:r>
              <a:rPr lang="en-US" sz="1600" dirty="0" err="1"/>
              <a:t>agaents</a:t>
            </a:r>
            <a:r>
              <a:rPr lang="en-US" sz="1600" dirty="0"/>
              <a:t> and low efficiency ration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CE2FA8E-1449-8E31-3DFE-26BC8BC527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4773879"/>
              </p:ext>
            </p:extLst>
          </p:nvPr>
        </p:nvGraphicFramePr>
        <p:xfrm>
          <a:off x="6348994" y="379048"/>
          <a:ext cx="5711483" cy="2702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3D59633-D0E3-687F-DE13-D63CEC5BB5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737642"/>
              </p:ext>
            </p:extLst>
          </p:nvPr>
        </p:nvGraphicFramePr>
        <p:xfrm>
          <a:off x="393257" y="3313406"/>
          <a:ext cx="5735775" cy="3085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57FC9B6-272A-0674-BA46-A3ECE41715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7228249"/>
              </p:ext>
            </p:extLst>
          </p:nvPr>
        </p:nvGraphicFramePr>
        <p:xfrm>
          <a:off x="6348994" y="3313405"/>
          <a:ext cx="5711483" cy="3085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71478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686D3F-8DB1-94D0-71E7-AC57011C7914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4.1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33587D2E-B125-4B4E-209C-46A03DCA365B}"/>
              </a:ext>
            </a:extLst>
          </p:cNvPr>
          <p:cNvSpPr/>
          <p:nvPr/>
        </p:nvSpPr>
        <p:spPr>
          <a:xfrm>
            <a:off x="290946" y="1352398"/>
            <a:ext cx="5617485" cy="1677407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Warehouse_ID</a:t>
            </a:r>
            <a:r>
              <a:rPr lang="en-US" sz="1400" dirty="0"/>
              <a:t> ,	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Processing_Time_Min</a:t>
            </a:r>
            <a:r>
              <a:rPr lang="en-US" sz="1400" dirty="0"/>
              <a:t> as </a:t>
            </a:r>
            <a:r>
              <a:rPr lang="en-US" sz="1400" dirty="0" err="1"/>
              <a:t>average_processing_time</a:t>
            </a:r>
            <a:r>
              <a:rPr lang="en-US" sz="1400" dirty="0"/>
              <a:t> ,</a:t>
            </a:r>
          </a:p>
          <a:p>
            <a:r>
              <a:rPr lang="en-US" sz="1400" dirty="0"/>
              <a:t>    rank() over(order by </a:t>
            </a:r>
            <a:r>
              <a:rPr lang="en-US" sz="1400" dirty="0" err="1"/>
              <a:t>Processing_Time_Min</a:t>
            </a:r>
            <a:r>
              <a:rPr lang="en-US" sz="1400" dirty="0"/>
              <a:t> desc) as </a:t>
            </a:r>
            <a:r>
              <a:rPr lang="en-US" sz="1400" dirty="0" err="1"/>
              <a:t>top_ranking</a:t>
            </a:r>
            <a:r>
              <a:rPr lang="en-US" sz="1400" dirty="0"/>
              <a:t> </a:t>
            </a:r>
          </a:p>
          <a:p>
            <a:r>
              <a:rPr lang="en-US" sz="1400" dirty="0"/>
              <a:t>from warehouses  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Warehouse_ID</a:t>
            </a:r>
            <a:endParaRPr lang="en-US" sz="1400" dirty="0"/>
          </a:p>
          <a:p>
            <a:r>
              <a:rPr lang="en-US" sz="1400" dirty="0"/>
              <a:t>limit 3;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B046D1-3282-BE76-E0C1-068C6373528E}"/>
              </a:ext>
            </a:extLst>
          </p:cNvPr>
          <p:cNvSpPr txBox="1"/>
          <p:nvPr/>
        </p:nvSpPr>
        <p:spPr>
          <a:xfrm>
            <a:off x="290946" y="475872"/>
            <a:ext cx="580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the top 3 warehouses with the highest average processing time.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920D0A-A150-B5DD-0002-B5BFE9734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420933"/>
              </p:ext>
            </p:extLst>
          </p:nvPr>
        </p:nvGraphicFramePr>
        <p:xfrm>
          <a:off x="290947" y="3828196"/>
          <a:ext cx="5617484" cy="218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570">
                  <a:extLst>
                    <a:ext uri="{9D8B030D-6E8A-4147-A177-3AD203B41FA5}">
                      <a16:colId xmlns:a16="http://schemas.microsoft.com/office/drawing/2014/main" val="4171044787"/>
                    </a:ext>
                  </a:extLst>
                </a:gridCol>
                <a:gridCol w="2183642">
                  <a:extLst>
                    <a:ext uri="{9D8B030D-6E8A-4147-A177-3AD203B41FA5}">
                      <a16:colId xmlns:a16="http://schemas.microsoft.com/office/drawing/2014/main" val="677458663"/>
                    </a:ext>
                  </a:extLst>
                </a:gridCol>
                <a:gridCol w="1691272">
                  <a:extLst>
                    <a:ext uri="{9D8B030D-6E8A-4147-A177-3AD203B41FA5}">
                      <a16:colId xmlns:a16="http://schemas.microsoft.com/office/drawing/2014/main" val="2022416964"/>
                    </a:ext>
                  </a:extLst>
                </a:gridCol>
              </a:tblGrid>
              <a:tr h="6199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Warehouse_ID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average_processing_time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top_ranking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86727333"/>
                  </a:ext>
                </a:extLst>
              </a:tr>
              <a:tr h="5228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W010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171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14975551"/>
                  </a:ext>
                </a:extLst>
              </a:tr>
              <a:tr h="5228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W009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170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59600703"/>
                  </a:ext>
                </a:extLst>
              </a:tr>
              <a:tr h="5228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W007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862569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B9321AF-3602-9E16-03C9-656703C4EB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4870951"/>
              </p:ext>
            </p:extLst>
          </p:nvPr>
        </p:nvGraphicFramePr>
        <p:xfrm>
          <a:off x="6283570" y="267784"/>
          <a:ext cx="5617483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CA39784F-D7BB-ABD8-DE46-EEFB0BA79C03}"/>
              </a:ext>
            </a:extLst>
          </p:cNvPr>
          <p:cNvSpPr/>
          <p:nvPr/>
        </p:nvSpPr>
        <p:spPr>
          <a:xfrm>
            <a:off x="6283570" y="3763501"/>
            <a:ext cx="5617485" cy="2541765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</a:rPr>
              <a:t>We found out that warehouse 10 had the highest average processing rate which was 60 minute higher than average processing rate of 110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</a:rPr>
              <a:t>Followed by warehouse and warehouse number 7 here we can see where warehouse number seven was significantly lower on average processing time than the other two warehouses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36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4C9C3D-FA3E-8B0E-DB8C-70AE70B70D63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4.2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65CDBF82-16F7-7F2D-4F59-6731E4CE3D06}"/>
              </a:ext>
            </a:extLst>
          </p:cNvPr>
          <p:cNvSpPr/>
          <p:nvPr/>
        </p:nvSpPr>
        <p:spPr>
          <a:xfrm>
            <a:off x="290946" y="1352398"/>
            <a:ext cx="5617485" cy="1677407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Warehouse_ID</a:t>
            </a:r>
            <a:r>
              <a:rPr lang="en-US" sz="1400" dirty="0"/>
              <a:t>,</a:t>
            </a:r>
          </a:p>
          <a:p>
            <a:r>
              <a:rPr lang="en-US" sz="1400" dirty="0"/>
              <a:t>    count(case when </a:t>
            </a:r>
            <a:r>
              <a:rPr lang="en-US" sz="1400" dirty="0" err="1"/>
              <a:t>Delivery_Status</a:t>
            </a:r>
            <a:r>
              <a:rPr lang="en-US" sz="1400" dirty="0"/>
              <a:t> = 'Delayed' then 1 end) as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delayed_shipments</a:t>
            </a:r>
            <a:r>
              <a:rPr lang="en-US" sz="1400" dirty="0"/>
              <a:t>, </a:t>
            </a:r>
          </a:p>
          <a:p>
            <a:r>
              <a:rPr lang="en-US" sz="1400" dirty="0"/>
              <a:t>    count(*) as </a:t>
            </a:r>
            <a:r>
              <a:rPr lang="en-US" sz="1400" dirty="0" err="1"/>
              <a:t>total_shipments</a:t>
            </a:r>
            <a:r>
              <a:rPr lang="en-US" sz="1400" dirty="0"/>
              <a:t> </a:t>
            </a:r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Warehouse_ID</a:t>
            </a:r>
            <a:r>
              <a:rPr lang="en-US" sz="1400" dirty="0"/>
              <a:t>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10000-C53F-4773-2F21-065778473F1C}"/>
              </a:ext>
            </a:extLst>
          </p:cNvPr>
          <p:cNvSpPr txBox="1"/>
          <p:nvPr/>
        </p:nvSpPr>
        <p:spPr>
          <a:xfrm>
            <a:off x="290946" y="475872"/>
            <a:ext cx="580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total vs. delayed shipments for each warehouse.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51729A-293F-311E-DFEE-BEE135736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45583"/>
              </p:ext>
            </p:extLst>
          </p:nvPr>
        </p:nvGraphicFramePr>
        <p:xfrm>
          <a:off x="290946" y="3429000"/>
          <a:ext cx="5617484" cy="3190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990">
                  <a:extLst>
                    <a:ext uri="{9D8B030D-6E8A-4147-A177-3AD203B41FA5}">
                      <a16:colId xmlns:a16="http://schemas.microsoft.com/office/drawing/2014/main" val="3229673948"/>
                    </a:ext>
                  </a:extLst>
                </a:gridCol>
                <a:gridCol w="2128126">
                  <a:extLst>
                    <a:ext uri="{9D8B030D-6E8A-4147-A177-3AD203B41FA5}">
                      <a16:colId xmlns:a16="http://schemas.microsoft.com/office/drawing/2014/main" val="2525931150"/>
                    </a:ext>
                  </a:extLst>
                </a:gridCol>
                <a:gridCol w="1821368">
                  <a:extLst>
                    <a:ext uri="{9D8B030D-6E8A-4147-A177-3AD203B41FA5}">
                      <a16:colId xmlns:a16="http://schemas.microsoft.com/office/drawing/2014/main" val="980923686"/>
                    </a:ext>
                  </a:extLst>
                </a:gridCol>
              </a:tblGrid>
              <a:tr h="2900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Warehouse_ID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delayed_shipments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total_shipments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0337371"/>
                  </a:ext>
                </a:extLst>
              </a:tr>
              <a:tr h="2900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W004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61324278"/>
                  </a:ext>
                </a:extLst>
              </a:tr>
              <a:tr h="2900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W009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31677255"/>
                  </a:ext>
                </a:extLst>
              </a:tr>
              <a:tr h="2900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90923"/>
                  </a:ext>
                </a:extLst>
              </a:tr>
              <a:tr h="2900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W001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06563815"/>
                  </a:ext>
                </a:extLst>
              </a:tr>
              <a:tr h="2900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43554908"/>
                  </a:ext>
                </a:extLst>
              </a:tr>
              <a:tr h="2900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7655357"/>
                  </a:ext>
                </a:extLst>
              </a:tr>
              <a:tr h="2900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55118660"/>
                  </a:ext>
                </a:extLst>
              </a:tr>
              <a:tr h="2900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56742372"/>
                  </a:ext>
                </a:extLst>
              </a:tr>
              <a:tr h="2900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95991074"/>
                  </a:ext>
                </a:extLst>
              </a:tr>
              <a:tr h="2900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2952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09DD09E-EC94-42C4-4106-5C18757A8C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8712297"/>
              </p:ext>
            </p:extLst>
          </p:nvPr>
        </p:nvGraphicFramePr>
        <p:xfrm>
          <a:off x="6283571" y="267784"/>
          <a:ext cx="55292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6C2B015D-ACC2-26B7-0592-B80AA94EC7A7}"/>
              </a:ext>
            </a:extLst>
          </p:cNvPr>
          <p:cNvSpPr/>
          <p:nvPr/>
        </p:nvSpPr>
        <p:spPr>
          <a:xfrm>
            <a:off x="6283570" y="3763501"/>
            <a:ext cx="5617485" cy="2541765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We can see Warehouse 10 at the highest amount Delayed shipments followed by warehouse number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We can also warehouse number seven had the highest shipments which were 38 followed by various number having shipments count of 37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we can also see warehouse number 8 had the least amount of delayed shipment Also one of the least amount of order counts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305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2B60C3-88AB-B5A8-24C7-593EDDCD7263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4.3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83783809-0890-BC47-A1A0-48E2FDCCB287}"/>
              </a:ext>
            </a:extLst>
          </p:cNvPr>
          <p:cNvSpPr/>
          <p:nvPr/>
        </p:nvSpPr>
        <p:spPr>
          <a:xfrm>
            <a:off x="290946" y="1352398"/>
            <a:ext cx="5617485" cy="2687339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WITH </a:t>
            </a:r>
            <a:r>
              <a:rPr lang="en-US" sz="1400" dirty="0" err="1"/>
              <a:t>average_pr_time</a:t>
            </a:r>
            <a:r>
              <a:rPr lang="en-US" sz="1400" dirty="0"/>
              <a:t> AS (   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AVG(</a:t>
            </a:r>
            <a:r>
              <a:rPr lang="en-US" sz="1400" dirty="0" err="1"/>
              <a:t>Processing_Time_Min</a:t>
            </a:r>
            <a:r>
              <a:rPr lang="en-US" sz="1400" dirty="0"/>
              <a:t>) AS </a:t>
            </a:r>
            <a:r>
              <a:rPr lang="en-US" sz="1400" dirty="0" err="1"/>
              <a:t>global_average</a:t>
            </a:r>
            <a:r>
              <a:rPr lang="en-US" sz="1400" dirty="0"/>
              <a:t>    </a:t>
            </a:r>
          </a:p>
          <a:p>
            <a:r>
              <a:rPr lang="en-US" sz="1400" dirty="0"/>
              <a:t>FROM warehouses )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Warehouse_ID</a:t>
            </a:r>
            <a:r>
              <a:rPr lang="en-US" sz="1400" dirty="0"/>
              <a:t>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Processing_Time_Min</a:t>
            </a:r>
            <a:r>
              <a:rPr lang="en-US" sz="1400" dirty="0"/>
              <a:t>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Processing_Time_Min</a:t>
            </a:r>
            <a:r>
              <a:rPr lang="en-US" sz="1400" dirty="0"/>
              <a:t> - </a:t>
            </a:r>
            <a:r>
              <a:rPr lang="en-US" sz="1400" dirty="0" err="1"/>
              <a:t>global_average</a:t>
            </a:r>
            <a:r>
              <a:rPr lang="en-US" sz="1400" dirty="0"/>
              <a:t> as </a:t>
            </a:r>
            <a:r>
              <a:rPr lang="en-US" sz="1400" dirty="0" err="1"/>
              <a:t>more_by</a:t>
            </a:r>
            <a:endParaRPr lang="en-US" sz="1400" dirty="0"/>
          </a:p>
          <a:p>
            <a:r>
              <a:rPr lang="en-US" sz="1400" dirty="0"/>
              <a:t>FROM warehouses, </a:t>
            </a:r>
            <a:r>
              <a:rPr lang="en-US" sz="1400" dirty="0" err="1"/>
              <a:t>average_pr_time</a:t>
            </a:r>
            <a:endParaRPr lang="en-US" sz="1400" dirty="0"/>
          </a:p>
          <a:p>
            <a:r>
              <a:rPr lang="en-US" sz="1400" dirty="0"/>
              <a:t>WHERE </a:t>
            </a:r>
            <a:r>
              <a:rPr lang="en-US" sz="1400" dirty="0" err="1"/>
              <a:t>Processing_Time_Min</a:t>
            </a:r>
            <a:r>
              <a:rPr lang="en-US" sz="1400" dirty="0"/>
              <a:t> &gt; </a:t>
            </a:r>
            <a:r>
              <a:rPr lang="en-US" sz="1400" dirty="0" err="1"/>
              <a:t>global_average</a:t>
            </a:r>
            <a:endParaRPr lang="en-US" sz="1400" dirty="0"/>
          </a:p>
          <a:p>
            <a:r>
              <a:rPr lang="en-US" sz="1400" dirty="0"/>
              <a:t>order by </a:t>
            </a:r>
            <a:r>
              <a:rPr lang="en-US" sz="1400" dirty="0" err="1"/>
              <a:t>Processing_Time_Min</a:t>
            </a:r>
            <a:r>
              <a:rPr lang="en-US" sz="1400" dirty="0"/>
              <a:t> desc;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4E5915-27EC-7CAE-EA8D-906B7784CD76}"/>
              </a:ext>
            </a:extLst>
          </p:cNvPr>
          <p:cNvSpPr txBox="1"/>
          <p:nvPr/>
        </p:nvSpPr>
        <p:spPr>
          <a:xfrm>
            <a:off x="290946" y="475872"/>
            <a:ext cx="580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CTEs to find bottleneck warehouses where processing time &gt; global average.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88D394-4FDD-56F8-3636-35C43DFD1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668199"/>
              </p:ext>
            </p:extLst>
          </p:nvPr>
        </p:nvGraphicFramePr>
        <p:xfrm>
          <a:off x="290945" y="4269931"/>
          <a:ext cx="5617484" cy="2280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230">
                  <a:extLst>
                    <a:ext uri="{9D8B030D-6E8A-4147-A177-3AD203B41FA5}">
                      <a16:colId xmlns:a16="http://schemas.microsoft.com/office/drawing/2014/main" val="3773723328"/>
                    </a:ext>
                  </a:extLst>
                </a:gridCol>
                <a:gridCol w="2543766">
                  <a:extLst>
                    <a:ext uri="{9D8B030D-6E8A-4147-A177-3AD203B41FA5}">
                      <a16:colId xmlns:a16="http://schemas.microsoft.com/office/drawing/2014/main" val="2011719381"/>
                    </a:ext>
                  </a:extLst>
                </a:gridCol>
                <a:gridCol w="1229488">
                  <a:extLst>
                    <a:ext uri="{9D8B030D-6E8A-4147-A177-3AD203B41FA5}">
                      <a16:colId xmlns:a16="http://schemas.microsoft.com/office/drawing/2014/main" val="30489321"/>
                    </a:ext>
                  </a:extLst>
                </a:gridCol>
              </a:tblGrid>
              <a:tr h="380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Warehouse_ID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Processing_Time_Min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more_by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13865559"/>
                  </a:ext>
                </a:extLst>
              </a:tr>
              <a:tr h="380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W010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171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60.9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4808202"/>
                  </a:ext>
                </a:extLst>
              </a:tr>
              <a:tr h="380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170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59.9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26907033"/>
                  </a:ext>
                </a:extLst>
              </a:tr>
              <a:tr h="380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166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55.9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84509729"/>
                  </a:ext>
                </a:extLst>
              </a:tr>
              <a:tr h="380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161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50.9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87837020"/>
                  </a:ext>
                </a:extLst>
              </a:tr>
              <a:tr h="380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142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31.9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175974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5F3C2A7-109C-CBFD-E2AB-6564383F52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9587718"/>
              </p:ext>
            </p:extLst>
          </p:nvPr>
        </p:nvGraphicFramePr>
        <p:xfrm>
          <a:off x="6283570" y="267783"/>
          <a:ext cx="5617483" cy="3771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469CDFCF-5880-E7B6-44CB-3C2604E17019}"/>
              </a:ext>
            </a:extLst>
          </p:cNvPr>
          <p:cNvSpPr/>
          <p:nvPr/>
        </p:nvSpPr>
        <p:spPr>
          <a:xfrm>
            <a:off x="6283570" y="4269931"/>
            <a:ext cx="5617485" cy="2280990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</a:rPr>
              <a:t>Warehouse no 10 Had the highest process time which was 60 minutes more than the global average processing time of 110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</a:rPr>
              <a:t>Followed by warehouse number 9 and at the end warehouse number 1 which only around 31.9 minutes more than the global average</a:t>
            </a:r>
          </a:p>
        </p:txBody>
      </p:sp>
    </p:spTree>
    <p:extLst>
      <p:ext uri="{BB962C8B-B14F-4D97-AF65-F5344CB8AC3E}">
        <p14:creationId xmlns:p14="http://schemas.microsoft.com/office/powerpoint/2010/main" val="1461295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1F089A-16EB-1E24-9039-AC0B28B7DBE5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4.4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02E1A9C0-14E5-5B6A-FEF7-4F5F0EB68619}"/>
              </a:ext>
            </a:extLst>
          </p:cNvPr>
          <p:cNvSpPr/>
          <p:nvPr/>
        </p:nvSpPr>
        <p:spPr>
          <a:xfrm>
            <a:off x="290946" y="997550"/>
            <a:ext cx="5617485" cy="2905703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with </a:t>
            </a:r>
            <a:r>
              <a:rPr lang="en-US" sz="1400" dirty="0" err="1"/>
              <a:t>on_time_del</a:t>
            </a:r>
            <a:r>
              <a:rPr lang="en-US" sz="1400" dirty="0"/>
              <a:t> as(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Warehouse_ID</a:t>
            </a:r>
            <a:r>
              <a:rPr lang="en-US" sz="1400" dirty="0"/>
              <a:t>, </a:t>
            </a:r>
          </a:p>
          <a:p>
            <a:r>
              <a:rPr lang="en-US" sz="1400" dirty="0"/>
              <a:t>    (count(case when </a:t>
            </a:r>
            <a:r>
              <a:rPr lang="en-US" sz="1400" dirty="0" err="1"/>
              <a:t>Delivery_Status</a:t>
            </a:r>
            <a:r>
              <a:rPr lang="en-US" sz="1400" dirty="0"/>
              <a:t> = 'On Time' then 1 end) / count(*)</a:t>
            </a:r>
          </a:p>
          <a:p>
            <a:r>
              <a:rPr lang="en-US" sz="1400" dirty="0"/>
              <a:t>    )*100 as </a:t>
            </a:r>
            <a:r>
              <a:rPr lang="en-US" sz="1400" dirty="0" err="1"/>
              <a:t>on_time_delivery_per</a:t>
            </a:r>
            <a:endParaRPr lang="en-US" sz="1400" dirty="0"/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Warehouse_ID</a:t>
            </a:r>
            <a:r>
              <a:rPr lang="en-US" sz="1400" dirty="0"/>
              <a:t> )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Warehouse_ID</a:t>
            </a:r>
            <a:r>
              <a:rPr lang="en-US" sz="1400" dirty="0"/>
              <a:t>,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on_time_delivery_per</a:t>
            </a:r>
            <a:r>
              <a:rPr lang="en-US" sz="1400" dirty="0"/>
              <a:t>, </a:t>
            </a:r>
          </a:p>
          <a:p>
            <a:r>
              <a:rPr lang="en-US" sz="1400" dirty="0"/>
              <a:t>    rank() over(order by </a:t>
            </a:r>
            <a:r>
              <a:rPr lang="en-US" sz="1400" dirty="0" err="1"/>
              <a:t>on_time_delivery_per</a:t>
            </a:r>
            <a:r>
              <a:rPr lang="en-US" sz="1400" dirty="0"/>
              <a:t> desc) as </a:t>
            </a:r>
            <a:r>
              <a:rPr lang="en-US" sz="1400" dirty="0" err="1"/>
              <a:t>on_time_ranking</a:t>
            </a:r>
            <a:r>
              <a:rPr lang="en-US" sz="1400" dirty="0"/>
              <a:t> from </a:t>
            </a:r>
            <a:r>
              <a:rPr lang="en-US" sz="1400" dirty="0" err="1"/>
              <a:t>on_time_del</a:t>
            </a:r>
            <a:r>
              <a:rPr lang="en-US" sz="1400" dirty="0"/>
              <a:t>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BD93A-EDAD-63D3-A9CD-88D1AABCA7C1}"/>
              </a:ext>
            </a:extLst>
          </p:cNvPr>
          <p:cNvSpPr txBox="1"/>
          <p:nvPr/>
        </p:nvSpPr>
        <p:spPr>
          <a:xfrm>
            <a:off x="290946" y="475872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Rank warehouses based on on-time delivery percentage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8C6BA3-7061-E84E-4A66-05A11C5F4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580960"/>
              </p:ext>
            </p:extLst>
          </p:nvPr>
        </p:nvGraphicFramePr>
        <p:xfrm>
          <a:off x="6283571" y="267784"/>
          <a:ext cx="5617484" cy="3635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944">
                  <a:extLst>
                    <a:ext uri="{9D8B030D-6E8A-4147-A177-3AD203B41FA5}">
                      <a16:colId xmlns:a16="http://schemas.microsoft.com/office/drawing/2014/main" val="2516190300"/>
                    </a:ext>
                  </a:extLst>
                </a:gridCol>
                <a:gridCol w="2230266">
                  <a:extLst>
                    <a:ext uri="{9D8B030D-6E8A-4147-A177-3AD203B41FA5}">
                      <a16:colId xmlns:a16="http://schemas.microsoft.com/office/drawing/2014/main" val="2796992462"/>
                    </a:ext>
                  </a:extLst>
                </a:gridCol>
                <a:gridCol w="1770274">
                  <a:extLst>
                    <a:ext uri="{9D8B030D-6E8A-4147-A177-3AD203B41FA5}">
                      <a16:colId xmlns:a16="http://schemas.microsoft.com/office/drawing/2014/main" val="4142911213"/>
                    </a:ext>
                  </a:extLst>
                </a:gridCol>
              </a:tblGrid>
              <a:tr h="330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Warehouse_ID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on_time_delivery_per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on_time_ranking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6871810"/>
                  </a:ext>
                </a:extLst>
              </a:tr>
              <a:tr h="330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W008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76.1905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38014821"/>
                  </a:ext>
                </a:extLst>
              </a:tr>
              <a:tr h="330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67.5676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35384702"/>
                  </a:ext>
                </a:extLst>
              </a:tr>
              <a:tr h="330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64.2857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78816625"/>
                  </a:ext>
                </a:extLst>
              </a:tr>
              <a:tr h="330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61.2903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05391831"/>
                  </a:ext>
                </a:extLst>
              </a:tr>
              <a:tr h="330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60.6061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22363032"/>
                  </a:ext>
                </a:extLst>
              </a:tr>
              <a:tr h="330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60.5263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41005287"/>
                  </a:ext>
                </a:extLst>
              </a:tr>
              <a:tr h="330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47.0588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7518492"/>
                  </a:ext>
                </a:extLst>
              </a:tr>
              <a:tr h="330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54422748"/>
                  </a:ext>
                </a:extLst>
              </a:tr>
              <a:tr h="330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43.4783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37477181"/>
                  </a:ext>
                </a:extLst>
              </a:tr>
              <a:tr h="330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W010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33.3333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9165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FE9063DA-B6E0-6C40-0A78-5D7AB3DD0F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72780370"/>
                  </p:ext>
                </p:extLst>
              </p:nvPr>
            </p:nvGraphicFramePr>
            <p:xfrm>
              <a:off x="290945" y="4055600"/>
              <a:ext cx="5617485" cy="259285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FE9063DA-B6E0-6C40-0A78-5D7AB3DD0F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945" y="4055600"/>
                <a:ext cx="5617485" cy="259285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9D048DBB-3F3B-CBCE-04BB-819EAE1DEB71}"/>
              </a:ext>
            </a:extLst>
          </p:cNvPr>
          <p:cNvSpPr/>
          <p:nvPr/>
        </p:nvSpPr>
        <p:spPr>
          <a:xfrm>
            <a:off x="6283570" y="4055600"/>
            <a:ext cx="5617485" cy="2495321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</a:rPr>
              <a:t>We can see that the warehouse number 8 had the highest amount of On Time Delivery percentage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</a:rPr>
              <a:t>Followed by warehouse no 6 and 2 and at the least on 10</a:t>
            </a:r>
            <a:r>
              <a:rPr lang="en-GB" sz="1600" baseline="30000" dirty="0">
                <a:solidFill>
                  <a:schemeClr val="bg1"/>
                </a:solidFill>
              </a:rPr>
              <a:t>th</a:t>
            </a:r>
            <a:r>
              <a:rPr lang="en-GB" sz="1600" dirty="0">
                <a:solidFill>
                  <a:schemeClr val="bg1"/>
                </a:solidFill>
              </a:rPr>
              <a:t> rank we had warehouse number ten with only 33% of on time delivery percentage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169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1B56D4-396C-6D0F-94B2-3525CFDD88DD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5.1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C83C02D0-6EE4-889C-A8BA-8C019932ED36}"/>
              </a:ext>
            </a:extLst>
          </p:cNvPr>
          <p:cNvSpPr/>
          <p:nvPr/>
        </p:nvSpPr>
        <p:spPr>
          <a:xfrm>
            <a:off x="290946" y="997551"/>
            <a:ext cx="5617485" cy="1772946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Route_ID</a:t>
            </a:r>
            <a:r>
              <a:rPr lang="en-US" sz="1400" dirty="0"/>
              <a:t>,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Agent_ID</a:t>
            </a:r>
            <a:r>
              <a:rPr lang="en-US" sz="1400" dirty="0"/>
              <a:t>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On_Time_Percentage</a:t>
            </a:r>
            <a:r>
              <a:rPr lang="en-US" sz="1400" dirty="0"/>
              <a:t>, </a:t>
            </a:r>
          </a:p>
          <a:p>
            <a:r>
              <a:rPr lang="en-US" sz="1400" dirty="0"/>
              <a:t>    rank() over(partition by </a:t>
            </a:r>
            <a:r>
              <a:rPr lang="en-US" sz="1400" dirty="0" err="1"/>
              <a:t>Route_ID</a:t>
            </a:r>
            <a:r>
              <a:rPr lang="en-US" sz="1400" dirty="0"/>
              <a:t> order by </a:t>
            </a:r>
            <a:r>
              <a:rPr lang="en-US" sz="1400" dirty="0" err="1"/>
              <a:t>On_Time_Percentage</a:t>
            </a:r>
            <a:r>
              <a:rPr lang="en-US" sz="1400" dirty="0"/>
              <a:t> desc) as</a:t>
            </a:r>
          </a:p>
          <a:p>
            <a:r>
              <a:rPr lang="en-US" sz="1400" dirty="0"/>
              <a:t>    ranking 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deliveryagents</a:t>
            </a:r>
            <a:r>
              <a:rPr lang="en-US" sz="1400" dirty="0"/>
              <a:t>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0882C-E385-895D-8494-DE2B9BAE9474}"/>
              </a:ext>
            </a:extLst>
          </p:cNvPr>
          <p:cNvSpPr txBox="1"/>
          <p:nvPr/>
        </p:nvSpPr>
        <p:spPr>
          <a:xfrm>
            <a:off x="290946" y="475872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Rank agents (per route) by on-time delivery percentage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5CE567-5C3A-1D1D-6D69-731C62DFE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710442"/>
              </p:ext>
            </p:extLst>
          </p:nvPr>
        </p:nvGraphicFramePr>
        <p:xfrm>
          <a:off x="6283571" y="267784"/>
          <a:ext cx="5805054" cy="636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012">
                  <a:extLst>
                    <a:ext uri="{9D8B030D-6E8A-4147-A177-3AD203B41FA5}">
                      <a16:colId xmlns:a16="http://schemas.microsoft.com/office/drawing/2014/main" val="776737977"/>
                    </a:ext>
                  </a:extLst>
                </a:gridCol>
                <a:gridCol w="1185011">
                  <a:extLst>
                    <a:ext uri="{9D8B030D-6E8A-4147-A177-3AD203B41FA5}">
                      <a16:colId xmlns:a16="http://schemas.microsoft.com/office/drawing/2014/main" val="1261026416"/>
                    </a:ext>
                  </a:extLst>
                </a:gridCol>
                <a:gridCol w="2360021">
                  <a:extLst>
                    <a:ext uri="{9D8B030D-6E8A-4147-A177-3AD203B41FA5}">
                      <a16:colId xmlns:a16="http://schemas.microsoft.com/office/drawing/2014/main" val="623910364"/>
                    </a:ext>
                  </a:extLst>
                </a:gridCol>
                <a:gridCol w="1040010">
                  <a:extLst>
                    <a:ext uri="{9D8B030D-6E8A-4147-A177-3AD203B41FA5}">
                      <a16:colId xmlns:a16="http://schemas.microsoft.com/office/drawing/2014/main" val="4264408846"/>
                    </a:ext>
                  </a:extLst>
                </a:gridCol>
              </a:tblGrid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Route_ID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Agent_ID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On_Time_Percentage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ranking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90347450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R001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81.56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07857844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78.94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79433692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R002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98.01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6432705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97.16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81648801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A027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73.8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36874455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72.75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5232486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71.5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70744383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83.31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22245208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A029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81.71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62389250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9078924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91.47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64124416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84.62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06112597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77.65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18424821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99.9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73907493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99.82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38723711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77.83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7522845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74.47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36547525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73.21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44478477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99.32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12439504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87.72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6126707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81.67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29245353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95.08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67991971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93.37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70213677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80.85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24728055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92.27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61102784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90.8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67903818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78.39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1836302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77.92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7891708"/>
                  </a:ext>
                </a:extLst>
              </a:tr>
              <a:tr h="2121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R013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A026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84.01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13" marR="8313" marT="83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746301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B03BE66-58C7-3C83-D5B5-F4881CC5BB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1743950"/>
              </p:ext>
            </p:extLst>
          </p:nvPr>
        </p:nvGraphicFramePr>
        <p:xfrm>
          <a:off x="290946" y="2922844"/>
          <a:ext cx="5617484" cy="3709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28885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4542A2-C5E0-1A93-785B-A45CF5D32A15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5.2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69D9C36C-4F31-AC6F-8027-9AF13A2F98CB}"/>
              </a:ext>
            </a:extLst>
          </p:cNvPr>
          <p:cNvSpPr/>
          <p:nvPr/>
        </p:nvSpPr>
        <p:spPr>
          <a:xfrm>
            <a:off x="290946" y="997551"/>
            <a:ext cx="5617485" cy="887520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select * 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deliveryagents</a:t>
            </a:r>
            <a:r>
              <a:rPr lang="en-US" sz="1400" dirty="0"/>
              <a:t> </a:t>
            </a:r>
          </a:p>
          <a:p>
            <a:r>
              <a:rPr lang="en-US" sz="1400" dirty="0"/>
              <a:t>where </a:t>
            </a:r>
            <a:r>
              <a:rPr lang="en-US" sz="1400" dirty="0" err="1"/>
              <a:t>On_Time_Percentage</a:t>
            </a:r>
            <a:r>
              <a:rPr lang="en-US" sz="1400" dirty="0"/>
              <a:t> &lt; 80;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9DE92C-55F7-B005-8B05-54C60D2676F9}"/>
              </a:ext>
            </a:extLst>
          </p:cNvPr>
          <p:cNvSpPr txBox="1"/>
          <p:nvPr/>
        </p:nvSpPr>
        <p:spPr>
          <a:xfrm>
            <a:off x="290946" y="475872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agents with on-time % &lt; 80%.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27F347-E4BD-4097-B941-FD57B1EEF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940227"/>
              </p:ext>
            </p:extLst>
          </p:nvPr>
        </p:nvGraphicFramePr>
        <p:xfrm>
          <a:off x="6283570" y="295422"/>
          <a:ext cx="5617484" cy="6217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248">
                  <a:extLst>
                    <a:ext uri="{9D8B030D-6E8A-4147-A177-3AD203B41FA5}">
                      <a16:colId xmlns:a16="http://schemas.microsoft.com/office/drawing/2014/main" val="334562290"/>
                    </a:ext>
                  </a:extLst>
                </a:gridCol>
                <a:gridCol w="3418236">
                  <a:extLst>
                    <a:ext uri="{9D8B030D-6E8A-4147-A177-3AD203B41FA5}">
                      <a16:colId xmlns:a16="http://schemas.microsoft.com/office/drawing/2014/main" val="65975028"/>
                    </a:ext>
                  </a:extLst>
                </a:gridCol>
              </a:tblGrid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Agent_ID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On_Time_Percentage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78683532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A003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74.15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92001332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72.39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34331018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70.45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68620970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A011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71.5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7217968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78.39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6457879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73.21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58226187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77.65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8987515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74.21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35820109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73.8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00642204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74.47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10471569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76.6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92687027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74.5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3494839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78.94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71796860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A038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71.8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6392255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72.6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71450095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77.83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99087452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A043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79.51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76195978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A046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75.46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47524805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A048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77.92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3267677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A050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72.75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390817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7AFAD7B-FF42-B006-C7F9-EC26D58D73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353846"/>
              </p:ext>
            </p:extLst>
          </p:nvPr>
        </p:nvGraphicFramePr>
        <p:xfrm>
          <a:off x="290946" y="2194560"/>
          <a:ext cx="5617485" cy="4187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3968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346DD5-E60A-474F-D2FF-190B9D2C90DA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5.3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8F087161-07CB-A191-8FB2-C36723F9F6D6}"/>
              </a:ext>
            </a:extLst>
          </p:cNvPr>
          <p:cNvSpPr/>
          <p:nvPr/>
        </p:nvSpPr>
        <p:spPr>
          <a:xfrm>
            <a:off x="290946" y="1391448"/>
            <a:ext cx="5617485" cy="4573255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WITH ranked AS (    </a:t>
            </a:r>
          </a:p>
          <a:p>
            <a:r>
              <a:rPr lang="en-US" sz="1400" dirty="0"/>
              <a:t>SELECT        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Agent_ID</a:t>
            </a:r>
            <a:r>
              <a:rPr lang="en-US" sz="1400" dirty="0"/>
              <a:t>,       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Avg_Speed_KM_HR</a:t>
            </a:r>
            <a:r>
              <a:rPr lang="en-US" sz="1400" dirty="0"/>
              <a:t>,        </a:t>
            </a:r>
          </a:p>
          <a:p>
            <a:r>
              <a:rPr lang="en-US" sz="1400" dirty="0"/>
              <a:t>    ROW_NUMBER() OVER (ORDER BY </a:t>
            </a:r>
            <a:r>
              <a:rPr lang="en-US" sz="1400" dirty="0" err="1"/>
              <a:t>Avg_Speed_KM_HR</a:t>
            </a:r>
            <a:r>
              <a:rPr lang="en-US" sz="1400" dirty="0"/>
              <a:t> DESC) AS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fastest_rank</a:t>
            </a:r>
            <a:r>
              <a:rPr lang="en-US" sz="1400" dirty="0"/>
              <a:t>,        </a:t>
            </a:r>
          </a:p>
          <a:p>
            <a:r>
              <a:rPr lang="en-US" sz="1400" dirty="0"/>
              <a:t>    ROW_NUMBER() OVER (ORDER BY </a:t>
            </a:r>
            <a:r>
              <a:rPr lang="en-US" sz="1400" dirty="0" err="1"/>
              <a:t>Avg_Speed_KM_HR</a:t>
            </a:r>
            <a:r>
              <a:rPr lang="en-US" sz="1400" dirty="0"/>
              <a:t> ASC)  AS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slowest_rank</a:t>
            </a:r>
            <a:r>
              <a:rPr lang="en-US" sz="1400" dirty="0"/>
              <a:t>    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deliveryagents</a:t>
            </a:r>
            <a:r>
              <a:rPr lang="en-US" sz="1400" dirty="0"/>
              <a:t> )</a:t>
            </a:r>
          </a:p>
          <a:p>
            <a:r>
              <a:rPr lang="en-US" sz="1400" dirty="0"/>
              <a:t>SELECT    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Agent_ID</a:t>
            </a:r>
            <a:r>
              <a:rPr lang="en-US" sz="1400" dirty="0"/>
              <a:t>,   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Avg_Speed_KM_HR</a:t>
            </a:r>
            <a:r>
              <a:rPr lang="en-US" sz="1400" dirty="0"/>
              <a:t>,    </a:t>
            </a:r>
          </a:p>
          <a:p>
            <a:r>
              <a:rPr lang="en-US" sz="1400" dirty="0"/>
              <a:t>    CASE         </a:t>
            </a:r>
          </a:p>
          <a:p>
            <a:r>
              <a:rPr lang="en-US" sz="1400" dirty="0"/>
              <a:t>        WHEN </a:t>
            </a:r>
            <a:r>
              <a:rPr lang="en-US" sz="1400" dirty="0" err="1"/>
              <a:t>fastest_rank</a:t>
            </a:r>
            <a:r>
              <a:rPr lang="en-US" sz="1400" dirty="0"/>
              <a:t> &lt;= 5 THEN 'TOP 5 FASTEST'        </a:t>
            </a:r>
          </a:p>
          <a:p>
            <a:r>
              <a:rPr lang="en-US" sz="1400" dirty="0"/>
              <a:t>        WHEN </a:t>
            </a:r>
            <a:r>
              <a:rPr lang="en-US" sz="1400" dirty="0" err="1"/>
              <a:t>slowest_rank</a:t>
            </a:r>
            <a:r>
              <a:rPr lang="en-US" sz="1400" dirty="0"/>
              <a:t> &lt;= 5 THEN 'BOTTOM 5 SLOWEST'    </a:t>
            </a:r>
          </a:p>
          <a:p>
            <a:r>
              <a:rPr lang="en-US" sz="1400" dirty="0"/>
              <a:t>    END AS category</a:t>
            </a:r>
          </a:p>
          <a:p>
            <a:r>
              <a:rPr lang="en-US" sz="1400" dirty="0">
                <a:solidFill>
                  <a:schemeClr val="bg1"/>
                </a:solidFill>
              </a:rPr>
              <a:t>FROM ranked</a:t>
            </a:r>
          </a:p>
          <a:p>
            <a:r>
              <a:rPr lang="en-US" sz="1400" dirty="0">
                <a:solidFill>
                  <a:schemeClr val="bg1"/>
                </a:solidFill>
              </a:rPr>
              <a:t>WHERE </a:t>
            </a:r>
            <a:r>
              <a:rPr lang="en-US" sz="1400" dirty="0" err="1">
                <a:solidFill>
                  <a:schemeClr val="bg1"/>
                </a:solidFill>
              </a:rPr>
              <a:t>fastest_rank</a:t>
            </a:r>
            <a:r>
              <a:rPr lang="en-US" sz="1400" dirty="0">
                <a:solidFill>
                  <a:schemeClr val="bg1"/>
                </a:solidFill>
              </a:rPr>
              <a:t> &lt;= 5 OR </a:t>
            </a:r>
            <a:r>
              <a:rPr lang="en-US" sz="1400" dirty="0" err="1">
                <a:solidFill>
                  <a:schemeClr val="bg1"/>
                </a:solidFill>
              </a:rPr>
              <a:t>slowest_rank</a:t>
            </a:r>
            <a:r>
              <a:rPr lang="en-US" sz="1400" dirty="0">
                <a:solidFill>
                  <a:schemeClr val="bg1"/>
                </a:solidFill>
              </a:rPr>
              <a:t> &lt;= 5</a:t>
            </a:r>
          </a:p>
          <a:p>
            <a:r>
              <a:rPr lang="en-US" sz="1400" dirty="0">
                <a:solidFill>
                  <a:schemeClr val="bg1"/>
                </a:solidFill>
              </a:rPr>
              <a:t>ORDER BY </a:t>
            </a:r>
            <a:r>
              <a:rPr lang="en-US" sz="1400" dirty="0" err="1">
                <a:solidFill>
                  <a:schemeClr val="bg1"/>
                </a:solidFill>
              </a:rPr>
              <a:t>Avg_Speed_KM_HR</a:t>
            </a:r>
            <a:r>
              <a:rPr lang="en-US" sz="1400" dirty="0">
                <a:solidFill>
                  <a:schemeClr val="bg1"/>
                </a:solidFill>
              </a:rPr>
              <a:t> DESC;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DB6C32-3D87-1025-2C2D-F7A25F3BFEAA}"/>
              </a:ext>
            </a:extLst>
          </p:cNvPr>
          <p:cNvSpPr txBox="1"/>
          <p:nvPr/>
        </p:nvSpPr>
        <p:spPr>
          <a:xfrm>
            <a:off x="290946" y="518076"/>
            <a:ext cx="580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average speed of top 5 vs bottom 5 agents using subqueries.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46BF4E-7D95-2692-7EFC-35C71D98F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426615"/>
              </p:ext>
            </p:extLst>
          </p:nvPr>
        </p:nvGraphicFramePr>
        <p:xfrm>
          <a:off x="6283572" y="295422"/>
          <a:ext cx="5617482" cy="3133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170">
                  <a:extLst>
                    <a:ext uri="{9D8B030D-6E8A-4147-A177-3AD203B41FA5}">
                      <a16:colId xmlns:a16="http://schemas.microsoft.com/office/drawing/2014/main" val="4199486258"/>
                    </a:ext>
                  </a:extLst>
                </a:gridCol>
                <a:gridCol w="2275637">
                  <a:extLst>
                    <a:ext uri="{9D8B030D-6E8A-4147-A177-3AD203B41FA5}">
                      <a16:colId xmlns:a16="http://schemas.microsoft.com/office/drawing/2014/main" val="1324232671"/>
                    </a:ext>
                  </a:extLst>
                </a:gridCol>
                <a:gridCol w="2084675">
                  <a:extLst>
                    <a:ext uri="{9D8B030D-6E8A-4147-A177-3AD203B41FA5}">
                      <a16:colId xmlns:a16="http://schemas.microsoft.com/office/drawing/2014/main" val="3313771323"/>
                    </a:ext>
                  </a:extLst>
                </a:gridCol>
              </a:tblGrid>
              <a:tr h="284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</a:rPr>
                        <a:t>Agent_ID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Avg_Speed_KM_HR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category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08530069"/>
                  </a:ext>
                </a:extLst>
              </a:tr>
              <a:tr h="284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A013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TOP 5 FASTEST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50824789"/>
                  </a:ext>
                </a:extLst>
              </a:tr>
              <a:tr h="284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A031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TOP 5 FASTEST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40471850"/>
                  </a:ext>
                </a:extLst>
              </a:tr>
              <a:tr h="284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A047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TOP 5 FASTEST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22672580"/>
                  </a:ext>
                </a:extLst>
              </a:tr>
              <a:tr h="284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A001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TOP 5 FASTEST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33178357"/>
                  </a:ext>
                </a:extLst>
              </a:tr>
              <a:tr h="284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A041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TOP 5 FASTEST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20082967"/>
                  </a:ext>
                </a:extLst>
              </a:tr>
              <a:tr h="284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A046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BOTTOM 5 SLOWEST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85698527"/>
                  </a:ext>
                </a:extLst>
              </a:tr>
              <a:tr h="284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A012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BOTTOM 5 SLOWEST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21268104"/>
                  </a:ext>
                </a:extLst>
              </a:tr>
              <a:tr h="284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A028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BOTTOM 5 SLOWEST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294740"/>
                  </a:ext>
                </a:extLst>
              </a:tr>
              <a:tr h="284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A008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BOTTOM 5 SLOWEST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67183082"/>
                  </a:ext>
                </a:extLst>
              </a:tr>
              <a:tr h="2848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A048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BOTTOM 5 SLOWEST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073387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5F67EEB-C237-26D9-2CEC-2D45541D3E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6849665"/>
              </p:ext>
            </p:extLst>
          </p:nvPr>
        </p:nvGraphicFramePr>
        <p:xfrm>
          <a:off x="6283571" y="3713871"/>
          <a:ext cx="5617482" cy="2967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6290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D97DBF-5717-7980-2610-E5114CC35437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6.1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A60245EE-64DE-3557-67E5-0D820F20C404}"/>
              </a:ext>
            </a:extLst>
          </p:cNvPr>
          <p:cNvSpPr/>
          <p:nvPr/>
        </p:nvSpPr>
        <p:spPr>
          <a:xfrm>
            <a:off x="290946" y="997550"/>
            <a:ext cx="5617485" cy="2969539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with </a:t>
            </a:r>
            <a:r>
              <a:rPr lang="en-US" sz="1400" dirty="0" err="1"/>
              <a:t>last_checkpoint</a:t>
            </a:r>
            <a:r>
              <a:rPr lang="en-US" sz="1400" dirty="0"/>
              <a:t> as(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Order_ID</a:t>
            </a:r>
            <a:r>
              <a:rPr lang="en-US" sz="1400" dirty="0"/>
              <a:t>,</a:t>
            </a:r>
          </a:p>
          <a:p>
            <a:r>
              <a:rPr lang="en-US" sz="1400" dirty="0"/>
              <a:t>    Checkpoint,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Checkpoint_Time</a:t>
            </a:r>
            <a:r>
              <a:rPr lang="en-US" sz="1400" dirty="0"/>
              <a:t>, </a:t>
            </a:r>
          </a:p>
          <a:p>
            <a:r>
              <a:rPr lang="en-US" sz="1400" dirty="0"/>
              <a:t>    rank() over(partition by </a:t>
            </a:r>
            <a:r>
              <a:rPr lang="en-US" sz="1400" dirty="0" err="1"/>
              <a:t>Order_ID</a:t>
            </a:r>
            <a:r>
              <a:rPr lang="en-US" sz="1400" dirty="0"/>
              <a:t> order by Checkpoint desc) as rank_ from </a:t>
            </a:r>
            <a:r>
              <a:rPr lang="en-US" sz="1400" dirty="0" err="1"/>
              <a:t>shipment_tracking</a:t>
            </a:r>
            <a:r>
              <a:rPr lang="en-US" sz="1400" dirty="0"/>
              <a:t> )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Order_ID</a:t>
            </a:r>
            <a:r>
              <a:rPr lang="en-US" sz="1400" dirty="0"/>
              <a:t>,</a:t>
            </a:r>
          </a:p>
          <a:p>
            <a:r>
              <a:rPr lang="en-US" sz="1400" dirty="0"/>
              <a:t>    Checkpoint as </a:t>
            </a:r>
            <a:r>
              <a:rPr lang="en-US" sz="1400" dirty="0" err="1"/>
              <a:t>last_checkpint</a:t>
            </a:r>
            <a:r>
              <a:rPr lang="en-US" sz="1400" dirty="0"/>
              <a:t> 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Checkpoint_Time</a:t>
            </a:r>
            <a:r>
              <a:rPr lang="en-US" sz="1400" dirty="0"/>
              <a:t> 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last_checkpoint</a:t>
            </a:r>
            <a:endParaRPr lang="en-US" sz="1400" dirty="0"/>
          </a:p>
          <a:p>
            <a:r>
              <a:rPr lang="en-US" sz="1400" dirty="0"/>
              <a:t>where rank_=1;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E8C14-9FC1-9685-C0B2-F44E9B6EAA78}"/>
              </a:ext>
            </a:extLst>
          </p:cNvPr>
          <p:cNvSpPr txBox="1"/>
          <p:nvPr/>
        </p:nvSpPr>
        <p:spPr>
          <a:xfrm>
            <a:off x="290946" y="475872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order, list the last checkpoint and time.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6D8C56-07F5-06EE-CD13-F7C3DEC2B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944937"/>
              </p:ext>
            </p:extLst>
          </p:nvPr>
        </p:nvGraphicFramePr>
        <p:xfrm>
          <a:off x="6283568" y="267783"/>
          <a:ext cx="5617485" cy="628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248">
                  <a:extLst>
                    <a:ext uri="{9D8B030D-6E8A-4147-A177-3AD203B41FA5}">
                      <a16:colId xmlns:a16="http://schemas.microsoft.com/office/drawing/2014/main" val="2513031785"/>
                    </a:ext>
                  </a:extLst>
                </a:gridCol>
                <a:gridCol w="1965550">
                  <a:extLst>
                    <a:ext uri="{9D8B030D-6E8A-4147-A177-3AD203B41FA5}">
                      <a16:colId xmlns:a16="http://schemas.microsoft.com/office/drawing/2014/main" val="195414507"/>
                    </a:ext>
                  </a:extLst>
                </a:gridCol>
                <a:gridCol w="2301687">
                  <a:extLst>
                    <a:ext uri="{9D8B030D-6E8A-4147-A177-3AD203B41FA5}">
                      <a16:colId xmlns:a16="http://schemas.microsoft.com/office/drawing/2014/main" val="2333980163"/>
                    </a:ext>
                  </a:extLst>
                </a:gridCol>
              </a:tblGrid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Order_ID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last_checkpint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Checkpoint_Time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89733763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6/9/2025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15253505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Checkpoint 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6/23/2025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07740861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Checkpoint 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6/5/2025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8684813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6/29/2025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30599940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Checkpoint 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6/4/2025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14871652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O0006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7/18/2025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42615026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6/15/2025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9176516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6/24/2025 0:00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31158914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7/11/2025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8840807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6/15/2025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684653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5/27/2025 0:00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605572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7/17/2025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35360297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7/17/2025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83775285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7/8/2025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23540161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6/20/2025 0:00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98205848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6/27/2025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10425456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7/12/2025 0:00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13701418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5/24/2025 0:00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06707888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Checkpoint 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6/30/2025 0:00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392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075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0F16FA-AE27-7BDF-BCB8-D44C9AF89849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6.2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62B88DFE-3432-130C-7407-3456A84EFF2E}"/>
              </a:ext>
            </a:extLst>
          </p:cNvPr>
          <p:cNvSpPr/>
          <p:nvPr/>
        </p:nvSpPr>
        <p:spPr>
          <a:xfrm>
            <a:off x="290946" y="997549"/>
            <a:ext cx="5617485" cy="2547509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with </a:t>
            </a:r>
            <a:r>
              <a:rPr lang="en-US" sz="1400" dirty="0" err="1"/>
              <a:t>delay_reason</a:t>
            </a:r>
            <a:r>
              <a:rPr lang="en-US" sz="1400" dirty="0"/>
              <a:t> as(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Delay_Reason,count</a:t>
            </a:r>
            <a:r>
              <a:rPr lang="en-US" sz="1400" dirty="0"/>
              <a:t>(*) as </a:t>
            </a:r>
            <a:r>
              <a:rPr lang="en-US" sz="1400" dirty="0" err="1"/>
              <a:t>reason_count</a:t>
            </a:r>
            <a:r>
              <a:rPr lang="en-US" sz="1400" dirty="0"/>
              <a:t> 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shipment_tracking</a:t>
            </a:r>
            <a:r>
              <a:rPr lang="en-US" sz="1400" dirty="0"/>
              <a:t> </a:t>
            </a:r>
          </a:p>
          <a:p>
            <a:r>
              <a:rPr lang="en-US" sz="1400" dirty="0"/>
              <a:t>where </a:t>
            </a:r>
            <a:r>
              <a:rPr lang="en-US" sz="1400" dirty="0" err="1"/>
              <a:t>Delay_Reason</a:t>
            </a:r>
            <a:r>
              <a:rPr lang="en-US" sz="1400" dirty="0"/>
              <a:t> &lt;&gt; 'None’ 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Delay_Reason</a:t>
            </a:r>
            <a:r>
              <a:rPr lang="en-US" sz="1400" dirty="0"/>
              <a:t> )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Delay_Reason</a:t>
            </a:r>
            <a:r>
              <a:rPr lang="en-US" sz="1400" dirty="0"/>
              <a:t>,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reason_count</a:t>
            </a:r>
            <a:r>
              <a:rPr lang="en-US" sz="1400" dirty="0"/>
              <a:t>, </a:t>
            </a:r>
          </a:p>
          <a:p>
            <a:r>
              <a:rPr lang="en-US" sz="1400" dirty="0"/>
              <a:t>    rank() over(order by </a:t>
            </a:r>
            <a:r>
              <a:rPr lang="en-US" sz="1400" dirty="0" err="1"/>
              <a:t>reason_count</a:t>
            </a:r>
            <a:r>
              <a:rPr lang="en-US" sz="1400" dirty="0"/>
              <a:t> desc) as </a:t>
            </a:r>
            <a:r>
              <a:rPr lang="en-US" sz="1400" dirty="0" err="1"/>
              <a:t>most_common_delay</a:t>
            </a:r>
            <a:r>
              <a:rPr lang="en-US" sz="1400" dirty="0"/>
              <a:t> 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delay_reason</a:t>
            </a:r>
            <a:r>
              <a:rPr lang="en-US" sz="1400" dirty="0"/>
              <a:t>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3EA1C-7A8D-E35E-F02B-5C203B1790EF}"/>
              </a:ext>
            </a:extLst>
          </p:cNvPr>
          <p:cNvSpPr txBox="1"/>
          <p:nvPr/>
        </p:nvSpPr>
        <p:spPr>
          <a:xfrm>
            <a:off x="290946" y="475872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the most common delay reasons (excluding None).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44EA93-19A1-0AF4-8649-454D9F956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66547"/>
              </p:ext>
            </p:extLst>
          </p:nvPr>
        </p:nvGraphicFramePr>
        <p:xfrm>
          <a:off x="290945" y="3807654"/>
          <a:ext cx="5617484" cy="2607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532">
                  <a:extLst>
                    <a:ext uri="{9D8B030D-6E8A-4147-A177-3AD203B41FA5}">
                      <a16:colId xmlns:a16="http://schemas.microsoft.com/office/drawing/2014/main" val="1744679160"/>
                    </a:ext>
                  </a:extLst>
                </a:gridCol>
                <a:gridCol w="1610607">
                  <a:extLst>
                    <a:ext uri="{9D8B030D-6E8A-4147-A177-3AD203B41FA5}">
                      <a16:colId xmlns:a16="http://schemas.microsoft.com/office/drawing/2014/main" val="3324694817"/>
                    </a:ext>
                  </a:extLst>
                </a:gridCol>
                <a:gridCol w="2337345">
                  <a:extLst>
                    <a:ext uri="{9D8B030D-6E8A-4147-A177-3AD203B41FA5}">
                      <a16:colId xmlns:a16="http://schemas.microsoft.com/office/drawing/2014/main" val="1571948480"/>
                    </a:ext>
                  </a:extLst>
                </a:gridCol>
              </a:tblGrid>
              <a:tr h="6518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Delay_Reason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reason_count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most_common_delay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3360356"/>
                  </a:ext>
                </a:extLst>
              </a:tr>
              <a:tr h="6518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Sorting Delay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272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31360329"/>
                  </a:ext>
                </a:extLst>
              </a:tr>
              <a:tr h="6518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Weather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263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90261858"/>
                  </a:ext>
                </a:extLst>
              </a:tr>
              <a:tr h="6518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Traffic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247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308937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8264368-C908-CDE8-CE56-7AC410E102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0795427"/>
              </p:ext>
            </p:extLst>
          </p:nvPr>
        </p:nvGraphicFramePr>
        <p:xfrm>
          <a:off x="6283570" y="267784"/>
          <a:ext cx="5617483" cy="3277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15B9510D-58DB-C745-7E63-E14CC15ED1DF}"/>
              </a:ext>
            </a:extLst>
          </p:cNvPr>
          <p:cNvSpPr/>
          <p:nvPr/>
        </p:nvSpPr>
        <p:spPr>
          <a:xfrm>
            <a:off x="6283570" y="3807654"/>
            <a:ext cx="5617485" cy="2607214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Out of all the reasons for delay in individual ship sorting delay cost The highest number of delay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Followed by Weather and Traffic which also caused almost similar numbers of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This shows us that warehouses need to be checked and inquired due to the sorting delays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098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486847-F9BB-4156-A02B-D322DFA09256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6.3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5E4C963F-351C-5149-7194-3B909DB6694F}"/>
              </a:ext>
            </a:extLst>
          </p:cNvPr>
          <p:cNvSpPr/>
          <p:nvPr/>
        </p:nvSpPr>
        <p:spPr>
          <a:xfrm>
            <a:off x="290946" y="899075"/>
            <a:ext cx="5617485" cy="2954217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with </a:t>
            </a:r>
            <a:r>
              <a:rPr lang="en-US" sz="1400" dirty="0" err="1"/>
              <a:t>delayed_checkpoint</a:t>
            </a:r>
            <a:r>
              <a:rPr lang="en-US" sz="1400" dirty="0"/>
              <a:t> as(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Order_Id</a:t>
            </a:r>
            <a:r>
              <a:rPr lang="en-US" sz="1400" dirty="0"/>
              <a:t> ,</a:t>
            </a:r>
          </a:p>
          <a:p>
            <a:r>
              <a:rPr lang="en-US" sz="1400" dirty="0"/>
              <a:t>    count(case when </a:t>
            </a:r>
            <a:r>
              <a:rPr lang="en-US" sz="1400" dirty="0" err="1"/>
              <a:t>Delay_Reason</a:t>
            </a:r>
            <a:r>
              <a:rPr lang="en-US" sz="1400" dirty="0"/>
              <a:t> &lt;&gt; 'None' then 1 end) as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delayed_checkpoint_count</a:t>
            </a:r>
            <a:r>
              <a:rPr lang="en-US" sz="1400" dirty="0"/>
              <a:t> 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shipment_tracking</a:t>
            </a:r>
            <a:r>
              <a:rPr lang="en-US" sz="1400" dirty="0"/>
              <a:t> 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Order_ID</a:t>
            </a:r>
            <a:r>
              <a:rPr lang="en-US" sz="1400" dirty="0"/>
              <a:t>)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Order_ID</a:t>
            </a:r>
            <a:r>
              <a:rPr lang="en-US" sz="1400" dirty="0"/>
              <a:t>,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delayed_checkpoint_count</a:t>
            </a:r>
            <a:r>
              <a:rPr lang="en-US" sz="1400" dirty="0"/>
              <a:t> 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delayed_checkpoint</a:t>
            </a:r>
            <a:endParaRPr lang="en-US" sz="1400" dirty="0"/>
          </a:p>
          <a:p>
            <a:r>
              <a:rPr lang="en-US" sz="1400" dirty="0"/>
              <a:t>where </a:t>
            </a:r>
            <a:r>
              <a:rPr lang="en-US" sz="1400" dirty="0" err="1"/>
              <a:t>delayed_checkpoint_count</a:t>
            </a:r>
            <a:r>
              <a:rPr lang="en-US" sz="1400" dirty="0"/>
              <a:t> &gt; 2 </a:t>
            </a:r>
          </a:p>
          <a:p>
            <a:r>
              <a:rPr lang="en-US" sz="1400" dirty="0"/>
              <a:t>order by </a:t>
            </a:r>
            <a:r>
              <a:rPr lang="en-US" sz="1400" dirty="0" err="1"/>
              <a:t>delayed_checkpoint_count</a:t>
            </a:r>
            <a:r>
              <a:rPr lang="en-US" sz="1400" dirty="0"/>
              <a:t> desc;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5F38E-53D9-D76D-932E-2C2746FE81C3}"/>
              </a:ext>
            </a:extLst>
          </p:cNvPr>
          <p:cNvSpPr txBox="1"/>
          <p:nvPr/>
        </p:nvSpPr>
        <p:spPr>
          <a:xfrm>
            <a:off x="290946" y="433668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orders with &gt;2 delayed checkpoints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2502754-2E23-519B-6A8F-88B5E85F3C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4763052"/>
              </p:ext>
            </p:extLst>
          </p:nvPr>
        </p:nvGraphicFramePr>
        <p:xfrm>
          <a:off x="290945" y="3949367"/>
          <a:ext cx="561748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657B14-5DBA-A163-D384-7FFDBD232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474207"/>
              </p:ext>
            </p:extLst>
          </p:nvPr>
        </p:nvGraphicFramePr>
        <p:xfrm>
          <a:off x="6283570" y="240145"/>
          <a:ext cx="5617483" cy="645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248">
                  <a:extLst>
                    <a:ext uri="{9D8B030D-6E8A-4147-A177-3AD203B41FA5}">
                      <a16:colId xmlns:a16="http://schemas.microsoft.com/office/drawing/2014/main" val="2889465583"/>
                    </a:ext>
                  </a:extLst>
                </a:gridCol>
                <a:gridCol w="3418235">
                  <a:extLst>
                    <a:ext uri="{9D8B030D-6E8A-4147-A177-3AD203B41FA5}">
                      <a16:colId xmlns:a16="http://schemas.microsoft.com/office/drawing/2014/main" val="1155674011"/>
                    </a:ext>
                  </a:extLst>
                </a:gridCol>
              </a:tblGrid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Order_ID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delayed_checkpoint_count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1017530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O0016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4023408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82855782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O0038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6052787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O0070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5322682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O0105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3077892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O0115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4249702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O0170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8331885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O0203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0101836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O0224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1096005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O0269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2796324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O0290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1879193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O0293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9081300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O0294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5304731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5766173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938343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126221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7360235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8387048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O0024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1405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788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378211-8F98-4B3E-7932-35A14AE1E8EA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7.1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CA99E244-BCEA-D826-1974-A12BA620BA62}"/>
              </a:ext>
            </a:extLst>
          </p:cNvPr>
          <p:cNvSpPr/>
          <p:nvPr/>
        </p:nvSpPr>
        <p:spPr>
          <a:xfrm>
            <a:off x="290946" y="914421"/>
            <a:ext cx="5617485" cy="1823898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select </a:t>
            </a:r>
          </a:p>
          <a:p>
            <a:r>
              <a:rPr lang="en-GB" sz="1400" dirty="0"/>
              <a:t>    </a:t>
            </a:r>
            <a:r>
              <a:rPr lang="en-GB" sz="1400" dirty="0" err="1"/>
              <a:t>r.Start_Location</a:t>
            </a:r>
            <a:r>
              <a:rPr lang="en-GB" sz="1400" dirty="0"/>
              <a:t>,</a:t>
            </a:r>
          </a:p>
          <a:p>
            <a:r>
              <a:rPr lang="en-GB" sz="1400" dirty="0"/>
              <a:t>    round(</a:t>
            </a:r>
            <a:r>
              <a:rPr lang="en-GB" sz="1400" dirty="0" err="1"/>
              <a:t>avg</a:t>
            </a:r>
            <a:r>
              <a:rPr lang="en-GB" sz="1400" dirty="0"/>
              <a:t>(</a:t>
            </a:r>
            <a:r>
              <a:rPr lang="en-GB" sz="1400" dirty="0" err="1"/>
              <a:t>datediff</a:t>
            </a:r>
            <a:r>
              <a:rPr lang="en-GB" sz="1400" dirty="0"/>
              <a:t>(</a:t>
            </a:r>
            <a:r>
              <a:rPr lang="en-GB" sz="1400" dirty="0" err="1"/>
              <a:t>Actual_Delivery_Date,Expected_Delivery_Date</a:t>
            </a:r>
            <a:r>
              <a:rPr lang="en-GB" sz="1400" dirty="0"/>
              <a:t>)),1)</a:t>
            </a:r>
          </a:p>
          <a:p>
            <a:r>
              <a:rPr lang="en-GB" sz="1400" dirty="0"/>
              <a:t>    as </a:t>
            </a:r>
            <a:r>
              <a:rPr lang="en-GB" sz="1400" dirty="0" err="1"/>
              <a:t>average_delay_days</a:t>
            </a:r>
            <a:r>
              <a:rPr lang="en-GB" sz="1400" dirty="0"/>
              <a:t> </a:t>
            </a:r>
          </a:p>
          <a:p>
            <a:r>
              <a:rPr lang="en-GB" sz="1400" dirty="0"/>
              <a:t>from orders o</a:t>
            </a:r>
          </a:p>
          <a:p>
            <a:r>
              <a:rPr lang="en-GB" sz="1400" dirty="0"/>
              <a:t>join routes r on </a:t>
            </a:r>
            <a:r>
              <a:rPr lang="en-GB" sz="1400" dirty="0" err="1"/>
              <a:t>o.Route_ID</a:t>
            </a:r>
            <a:r>
              <a:rPr lang="en-GB" sz="1400" dirty="0"/>
              <a:t>=</a:t>
            </a:r>
            <a:r>
              <a:rPr lang="en-GB" sz="1400" dirty="0" err="1"/>
              <a:t>r.Route_ID</a:t>
            </a:r>
            <a:r>
              <a:rPr lang="en-GB" sz="1400" dirty="0"/>
              <a:t> </a:t>
            </a:r>
          </a:p>
          <a:p>
            <a:r>
              <a:rPr lang="en-GB" sz="1400" dirty="0"/>
              <a:t>where </a:t>
            </a:r>
            <a:r>
              <a:rPr lang="en-GB" sz="1400" dirty="0" err="1"/>
              <a:t>o.Delivery_Status</a:t>
            </a:r>
            <a:r>
              <a:rPr lang="en-GB" sz="1400" dirty="0"/>
              <a:t> = 'Delayed’ </a:t>
            </a:r>
          </a:p>
          <a:p>
            <a:r>
              <a:rPr lang="en-GB" sz="1400" dirty="0"/>
              <a:t>group by </a:t>
            </a:r>
            <a:r>
              <a:rPr lang="en-GB" sz="1400" dirty="0" err="1"/>
              <a:t>r.Start_Location</a:t>
            </a:r>
            <a:r>
              <a:rPr lang="en-GB" sz="1400" dirty="0"/>
              <a:t>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65AB5-6DFD-DF7E-1027-D263F9E3553B}"/>
              </a:ext>
            </a:extLst>
          </p:cNvPr>
          <p:cNvSpPr txBox="1"/>
          <p:nvPr/>
        </p:nvSpPr>
        <p:spPr>
          <a:xfrm>
            <a:off x="290946" y="475872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Delivery Delay per Region (</a:t>
            </a:r>
            <a:r>
              <a:rPr lang="en-US" dirty="0" err="1"/>
              <a:t>Start_Location</a:t>
            </a:r>
            <a:r>
              <a:rPr lang="en-US" dirty="0"/>
              <a:t>).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D835DA-FF18-2649-3485-EB7412D57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510994"/>
              </p:ext>
            </p:extLst>
          </p:nvPr>
        </p:nvGraphicFramePr>
        <p:xfrm>
          <a:off x="6283570" y="267783"/>
          <a:ext cx="5617483" cy="6354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689">
                  <a:extLst>
                    <a:ext uri="{9D8B030D-6E8A-4147-A177-3AD203B41FA5}">
                      <a16:colId xmlns:a16="http://schemas.microsoft.com/office/drawing/2014/main" val="2457024665"/>
                    </a:ext>
                  </a:extLst>
                </a:gridCol>
                <a:gridCol w="2953794">
                  <a:extLst>
                    <a:ext uri="{9D8B030D-6E8A-4147-A177-3AD203B41FA5}">
                      <a16:colId xmlns:a16="http://schemas.microsoft.com/office/drawing/2014/main" val="588446829"/>
                    </a:ext>
                  </a:extLst>
                </a:gridCol>
              </a:tblGrid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Start_Location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average_delay_days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5894004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Ramosside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2831759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South Johnville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3256514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New Jessica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8228790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West Calvinview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9082109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Juliestad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7351916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South Davidborough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3721613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Lowemouth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9110028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North Edward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6960375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South Brianchester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3536788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Aaronhaven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2804764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South Jenniferfurt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6992980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Bellfurt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181643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Port Tammybury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3761470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Lake Oscarfurt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81836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Lake Robinhaven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1055264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Lake Jessicastad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2930511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East Amy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4876841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Lake Kathrynchester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872740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North Aliceside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7755769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New Aimeechester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7793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0C41F25-3529-F2D6-4874-D5D80D4DF2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2648065"/>
              </p:ext>
            </p:extLst>
          </p:nvPr>
        </p:nvGraphicFramePr>
        <p:xfrm>
          <a:off x="290947" y="2807537"/>
          <a:ext cx="5617484" cy="3782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8507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FE7056-85EE-8462-849E-AF8C280306B1}"/>
              </a:ext>
            </a:extLst>
          </p:cNvPr>
          <p:cNvSpPr txBox="1"/>
          <p:nvPr/>
        </p:nvSpPr>
        <p:spPr>
          <a:xfrm>
            <a:off x="290946" y="83118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7.2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7A8A2365-50FF-8F3C-FD6F-06171715C51F}"/>
              </a:ext>
            </a:extLst>
          </p:cNvPr>
          <p:cNvSpPr/>
          <p:nvPr/>
        </p:nvSpPr>
        <p:spPr>
          <a:xfrm>
            <a:off x="290946" y="997551"/>
            <a:ext cx="5617485" cy="1801920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Select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Route_ID</a:t>
            </a:r>
            <a:r>
              <a:rPr lang="en-US" sz="1400" dirty="0"/>
              <a:t>, </a:t>
            </a:r>
          </a:p>
          <a:p>
            <a:r>
              <a:rPr lang="en-US" sz="1400" dirty="0"/>
              <a:t>    round((count(case when </a:t>
            </a:r>
            <a:r>
              <a:rPr lang="en-US" sz="1400" dirty="0" err="1"/>
              <a:t>Delivery_Status</a:t>
            </a:r>
            <a:r>
              <a:rPr lang="en-US" sz="1400" dirty="0"/>
              <a:t> = 'On Time' then 1 end) /</a:t>
            </a:r>
          </a:p>
          <a:p>
            <a:r>
              <a:rPr lang="en-US" sz="1400" dirty="0"/>
              <a:t>    count(*))*100,2) as </a:t>
            </a:r>
            <a:r>
              <a:rPr lang="en-US" sz="1400" dirty="0" err="1"/>
              <a:t>on_time_delivery_per</a:t>
            </a:r>
            <a:r>
              <a:rPr lang="en-US" sz="1400" dirty="0"/>
              <a:t> </a:t>
            </a:r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Route_ID</a:t>
            </a:r>
            <a:r>
              <a:rPr lang="en-US" sz="1400" dirty="0"/>
              <a:t> </a:t>
            </a:r>
          </a:p>
          <a:p>
            <a:r>
              <a:rPr lang="en-US" sz="1400" dirty="0"/>
              <a:t>order by </a:t>
            </a:r>
            <a:r>
              <a:rPr lang="en-US" sz="1400" dirty="0" err="1"/>
              <a:t>on_time_delivery_per</a:t>
            </a:r>
            <a:r>
              <a:rPr lang="en-US" sz="1400" dirty="0"/>
              <a:t> desc;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2DDF6-3033-F175-1C5C-1DD6367BDA8D}"/>
              </a:ext>
            </a:extLst>
          </p:cNvPr>
          <p:cNvSpPr txBox="1"/>
          <p:nvPr/>
        </p:nvSpPr>
        <p:spPr>
          <a:xfrm>
            <a:off x="290946" y="475872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On-Time Delivery %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907AD8-9ECD-6747-5950-4FECB5356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985386"/>
              </p:ext>
            </p:extLst>
          </p:nvPr>
        </p:nvGraphicFramePr>
        <p:xfrm>
          <a:off x="6283570" y="267783"/>
          <a:ext cx="5617483" cy="6287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85">
                  <a:extLst>
                    <a:ext uri="{9D8B030D-6E8A-4147-A177-3AD203B41FA5}">
                      <a16:colId xmlns:a16="http://schemas.microsoft.com/office/drawing/2014/main" val="2404071881"/>
                    </a:ext>
                  </a:extLst>
                </a:gridCol>
                <a:gridCol w="3724298">
                  <a:extLst>
                    <a:ext uri="{9D8B030D-6E8A-4147-A177-3AD203B41FA5}">
                      <a16:colId xmlns:a16="http://schemas.microsoft.com/office/drawing/2014/main" val="151718912"/>
                    </a:ext>
                  </a:extLst>
                </a:gridCol>
              </a:tblGrid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Route_ID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on_time_delivery_per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09978063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01773682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R019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69.23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9166186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68.75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25074920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68.18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99011940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63.64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28255022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62.5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3494764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61.54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80910569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34567618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48676168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55528429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56.25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2883994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9541017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51163806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53.33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9995513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52595758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01843268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47.06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43788841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42.86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39816790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33.33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59003132"/>
                  </a:ext>
                </a:extLst>
              </a:tr>
              <a:tr h="299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R020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29.41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992991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175FA9F-01DB-010B-9D5C-A57AEFF73F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2599477"/>
              </p:ext>
            </p:extLst>
          </p:nvPr>
        </p:nvGraphicFramePr>
        <p:xfrm>
          <a:off x="290947" y="2902703"/>
          <a:ext cx="5617484" cy="3652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786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5D0366-0ED4-7DDD-0455-CEA513746518}"/>
              </a:ext>
            </a:extLst>
          </p:cNvPr>
          <p:cNvSpPr txBox="1"/>
          <p:nvPr/>
        </p:nvSpPr>
        <p:spPr>
          <a:xfrm>
            <a:off x="290946" y="387916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7.3</a:t>
            </a:r>
            <a:endParaRPr lang="en-US" b="1" dirty="0"/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06DB2690-F4EB-ED20-B6F1-AA620C2F65B7}"/>
              </a:ext>
            </a:extLst>
          </p:cNvPr>
          <p:cNvSpPr/>
          <p:nvPr/>
        </p:nvSpPr>
        <p:spPr>
          <a:xfrm>
            <a:off x="290946" y="1494971"/>
            <a:ext cx="5617485" cy="4324586"/>
          </a:xfrm>
          <a:custGeom>
            <a:avLst/>
            <a:gdLst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348589 h 2818318"/>
              <a:gd name="connsiteX8" fmla="*/ 0 w 5735775"/>
              <a:gd name="connsiteY8" fmla="*/ 469729 h 2818318"/>
              <a:gd name="connsiteX0" fmla="*/ 0 w 5735775"/>
              <a:gd name="connsiteY0" fmla="*/ 469729 h 2818318"/>
              <a:gd name="connsiteX1" fmla="*/ 469729 w 5735775"/>
              <a:gd name="connsiteY1" fmla="*/ 0 h 2818318"/>
              <a:gd name="connsiteX2" fmla="*/ 5266046 w 5735775"/>
              <a:gd name="connsiteY2" fmla="*/ 0 h 2818318"/>
              <a:gd name="connsiteX3" fmla="*/ 5735775 w 5735775"/>
              <a:gd name="connsiteY3" fmla="*/ 469729 h 2818318"/>
              <a:gd name="connsiteX4" fmla="*/ 5735775 w 5735775"/>
              <a:gd name="connsiteY4" fmla="*/ 2348589 h 2818318"/>
              <a:gd name="connsiteX5" fmla="*/ 5266046 w 5735775"/>
              <a:gd name="connsiteY5" fmla="*/ 2818318 h 2818318"/>
              <a:gd name="connsiteX6" fmla="*/ 469729 w 5735775"/>
              <a:gd name="connsiteY6" fmla="*/ 2818318 h 2818318"/>
              <a:gd name="connsiteX7" fmla="*/ 0 w 5735775"/>
              <a:gd name="connsiteY7" fmla="*/ 2539657 h 2818318"/>
              <a:gd name="connsiteX8" fmla="*/ 0 w 5735775"/>
              <a:gd name="connsiteY8" fmla="*/ 469729 h 2818318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469729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29 h 2819939"/>
              <a:gd name="connsiteX1" fmla="*/ 469729 w 5735775"/>
              <a:gd name="connsiteY1" fmla="*/ 0 h 2819939"/>
              <a:gd name="connsiteX2" fmla="*/ 5266046 w 5735775"/>
              <a:gd name="connsiteY2" fmla="*/ 0 h 2819939"/>
              <a:gd name="connsiteX3" fmla="*/ 5735775 w 5735775"/>
              <a:gd name="connsiteY3" fmla="*/ 292308 h 2819939"/>
              <a:gd name="connsiteX4" fmla="*/ 5735775 w 5735775"/>
              <a:gd name="connsiteY4" fmla="*/ 2594249 h 2819939"/>
              <a:gd name="connsiteX5" fmla="*/ 5266046 w 5735775"/>
              <a:gd name="connsiteY5" fmla="*/ 2818318 h 2819939"/>
              <a:gd name="connsiteX6" fmla="*/ 469729 w 5735775"/>
              <a:gd name="connsiteY6" fmla="*/ 2818318 h 2819939"/>
              <a:gd name="connsiteX7" fmla="*/ 0 w 5735775"/>
              <a:gd name="connsiteY7" fmla="*/ 2539657 h 2819939"/>
              <a:gd name="connsiteX8" fmla="*/ 0 w 5735775"/>
              <a:gd name="connsiteY8" fmla="*/ 469729 h 2819939"/>
              <a:gd name="connsiteX0" fmla="*/ 0 w 5735775"/>
              <a:gd name="connsiteY0" fmla="*/ 469756 h 2819966"/>
              <a:gd name="connsiteX1" fmla="*/ 469729 w 5735775"/>
              <a:gd name="connsiteY1" fmla="*/ 27 h 2819966"/>
              <a:gd name="connsiteX2" fmla="*/ 5266046 w 5735775"/>
              <a:gd name="connsiteY2" fmla="*/ 27 h 2819966"/>
              <a:gd name="connsiteX3" fmla="*/ 5735775 w 5735775"/>
              <a:gd name="connsiteY3" fmla="*/ 251392 h 2819966"/>
              <a:gd name="connsiteX4" fmla="*/ 5735775 w 5735775"/>
              <a:gd name="connsiteY4" fmla="*/ 2594276 h 2819966"/>
              <a:gd name="connsiteX5" fmla="*/ 5266046 w 5735775"/>
              <a:gd name="connsiteY5" fmla="*/ 2818345 h 2819966"/>
              <a:gd name="connsiteX6" fmla="*/ 469729 w 5735775"/>
              <a:gd name="connsiteY6" fmla="*/ 2818345 h 2819966"/>
              <a:gd name="connsiteX7" fmla="*/ 0 w 5735775"/>
              <a:gd name="connsiteY7" fmla="*/ 2539684 h 2819966"/>
              <a:gd name="connsiteX8" fmla="*/ 0 w 5735775"/>
              <a:gd name="connsiteY8" fmla="*/ 469756 h 2819966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43341 h 2823623"/>
              <a:gd name="connsiteX8" fmla="*/ 0 w 5735775"/>
              <a:gd name="connsiteY8" fmla="*/ 214105 h 2823623"/>
              <a:gd name="connsiteX0" fmla="*/ 0 w 5735775"/>
              <a:gd name="connsiteY0" fmla="*/ 214105 h 2823623"/>
              <a:gd name="connsiteX1" fmla="*/ 469729 w 5735775"/>
              <a:gd name="connsiteY1" fmla="*/ 3684 h 2823623"/>
              <a:gd name="connsiteX2" fmla="*/ 5266046 w 5735775"/>
              <a:gd name="connsiteY2" fmla="*/ 3684 h 2823623"/>
              <a:gd name="connsiteX3" fmla="*/ 5735775 w 5735775"/>
              <a:gd name="connsiteY3" fmla="*/ 255049 h 2823623"/>
              <a:gd name="connsiteX4" fmla="*/ 5735775 w 5735775"/>
              <a:gd name="connsiteY4" fmla="*/ 2597933 h 2823623"/>
              <a:gd name="connsiteX5" fmla="*/ 5266046 w 5735775"/>
              <a:gd name="connsiteY5" fmla="*/ 2822002 h 2823623"/>
              <a:gd name="connsiteX6" fmla="*/ 469729 w 5735775"/>
              <a:gd name="connsiteY6" fmla="*/ 2822002 h 2823623"/>
              <a:gd name="connsiteX7" fmla="*/ 0 w 5735775"/>
              <a:gd name="connsiteY7" fmla="*/ 2597932 h 2823623"/>
              <a:gd name="connsiteX8" fmla="*/ 0 w 5735775"/>
              <a:gd name="connsiteY8" fmla="*/ 214105 h 282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5775" h="2823623">
                <a:moveTo>
                  <a:pt x="0" y="214105"/>
                </a:moveTo>
                <a:cubicBezTo>
                  <a:pt x="0" y="-45319"/>
                  <a:pt x="210305" y="3684"/>
                  <a:pt x="469729" y="3684"/>
                </a:cubicBezTo>
                <a:lnTo>
                  <a:pt x="5266046" y="3684"/>
                </a:lnTo>
                <a:cubicBezTo>
                  <a:pt x="5525470" y="3684"/>
                  <a:pt x="5735775" y="-4375"/>
                  <a:pt x="5735775" y="255049"/>
                </a:cubicBezTo>
                <a:lnTo>
                  <a:pt x="5735775" y="2597933"/>
                </a:lnTo>
                <a:cubicBezTo>
                  <a:pt x="5735775" y="2857357"/>
                  <a:pt x="5525470" y="2822002"/>
                  <a:pt x="5266046" y="2822002"/>
                </a:cubicBezTo>
                <a:lnTo>
                  <a:pt x="469729" y="2822002"/>
                </a:lnTo>
                <a:cubicBezTo>
                  <a:pt x="210305" y="2822002"/>
                  <a:pt x="0" y="2857356"/>
                  <a:pt x="0" y="2597932"/>
                </a:cubicBezTo>
                <a:lnTo>
                  <a:pt x="0" y="214105"/>
                </a:lnTo>
                <a:close/>
              </a:path>
            </a:pathLst>
          </a:custGeom>
          <a:solidFill>
            <a:srgbClr val="1E1C11">
              <a:alpha val="5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WITH </a:t>
            </a:r>
            <a:r>
              <a:rPr lang="en-US" sz="1400" dirty="0" err="1"/>
              <a:t>traffic_delay_count</a:t>
            </a:r>
            <a:r>
              <a:rPr lang="en-US" sz="1400" dirty="0"/>
              <a:t> AS (    </a:t>
            </a:r>
          </a:p>
          <a:p>
            <a:r>
              <a:rPr lang="en-US" sz="1400" dirty="0"/>
              <a:t>SELECT        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o.Route_ID</a:t>
            </a:r>
            <a:r>
              <a:rPr lang="en-US" sz="1400" dirty="0"/>
              <a:t>,        </a:t>
            </a:r>
          </a:p>
          <a:p>
            <a:r>
              <a:rPr lang="en-US" sz="1400" dirty="0"/>
              <a:t>    COUNT(*) AS </a:t>
            </a:r>
            <a:r>
              <a:rPr lang="en-US" sz="1400" dirty="0" err="1"/>
              <a:t>total_shipments</a:t>
            </a:r>
            <a:r>
              <a:rPr lang="en-US" sz="1400" dirty="0"/>
              <a:t>,        </a:t>
            </a:r>
          </a:p>
          <a:p>
            <a:r>
              <a:rPr lang="en-US" sz="1400" dirty="0"/>
              <a:t>    COUNT(CASE WHEN </a:t>
            </a:r>
            <a:r>
              <a:rPr lang="en-US" sz="1400" dirty="0" err="1"/>
              <a:t>s.Delay_reason</a:t>
            </a:r>
            <a:r>
              <a:rPr lang="en-US" sz="1400" dirty="0"/>
              <a:t> = 'Traffic' THEN 1 END) AS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traffic_d_count</a:t>
            </a:r>
            <a:r>
              <a:rPr lang="en-US" sz="1400" dirty="0"/>
              <a:t>    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shipment_tracking</a:t>
            </a:r>
            <a:r>
              <a:rPr lang="en-US" sz="1400" dirty="0"/>
              <a:t> s   </a:t>
            </a:r>
          </a:p>
          <a:p>
            <a:r>
              <a:rPr lang="en-US" sz="1400" dirty="0"/>
              <a:t>JOIN orders o     </a:t>
            </a:r>
          </a:p>
          <a:p>
            <a:r>
              <a:rPr lang="en-US" sz="1400" dirty="0"/>
              <a:t>ON </a:t>
            </a:r>
            <a:r>
              <a:rPr lang="en-US" sz="1400" dirty="0" err="1"/>
              <a:t>s.Order_ID</a:t>
            </a:r>
            <a:r>
              <a:rPr lang="en-US" sz="1400" dirty="0"/>
              <a:t> = </a:t>
            </a:r>
            <a:r>
              <a:rPr lang="en-US" sz="1400" dirty="0" err="1"/>
              <a:t>o.Order_ID</a:t>
            </a:r>
            <a:r>
              <a:rPr lang="en-US" sz="1400" dirty="0"/>
              <a:t>    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o.Route_ID</a:t>
            </a:r>
            <a:r>
              <a:rPr lang="en-US" sz="1400" dirty="0"/>
              <a:t>)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r.Route_ID</a:t>
            </a:r>
            <a:r>
              <a:rPr lang="en-US" sz="1400" dirty="0"/>
              <a:t>, </a:t>
            </a:r>
          </a:p>
          <a:p>
            <a:r>
              <a:rPr lang="en-US" sz="1400" dirty="0"/>
              <a:t>    round((</a:t>
            </a:r>
            <a:r>
              <a:rPr lang="en-US" sz="1400" dirty="0" err="1"/>
              <a:t>td.traffic_d_count</a:t>
            </a:r>
            <a:r>
              <a:rPr lang="en-US" sz="1400" dirty="0"/>
              <a:t> * </a:t>
            </a:r>
            <a:r>
              <a:rPr lang="en-US" sz="1400" dirty="0" err="1"/>
              <a:t>r.Traffic_Delay_Min</a:t>
            </a:r>
            <a:r>
              <a:rPr lang="en-US" sz="1400" dirty="0"/>
              <a:t>) / td.total_shipments,2)</a:t>
            </a:r>
          </a:p>
          <a:p>
            <a:r>
              <a:rPr lang="en-US" sz="1400" dirty="0"/>
              <a:t>    AS </a:t>
            </a:r>
            <a:r>
              <a:rPr lang="en-US" sz="1400" dirty="0" err="1"/>
              <a:t>avg_traffic_delay_min</a:t>
            </a:r>
            <a:endParaRPr lang="en-US" sz="1400" dirty="0"/>
          </a:p>
          <a:p>
            <a:r>
              <a:rPr lang="en-US" sz="1400" dirty="0"/>
              <a:t>FROM </a:t>
            </a:r>
            <a:r>
              <a:rPr lang="en-US" sz="1400" dirty="0" err="1"/>
              <a:t>traffic_delay_count</a:t>
            </a:r>
            <a:r>
              <a:rPr lang="en-US" sz="1400" dirty="0"/>
              <a:t> td</a:t>
            </a:r>
          </a:p>
          <a:p>
            <a:r>
              <a:rPr lang="en-US" sz="1400" dirty="0"/>
              <a:t>JOIN routes r </a:t>
            </a:r>
          </a:p>
          <a:p>
            <a:r>
              <a:rPr lang="en-US" sz="1400" dirty="0"/>
              <a:t>ON </a:t>
            </a:r>
            <a:r>
              <a:rPr lang="en-US" sz="1400" dirty="0" err="1"/>
              <a:t>td.Route_ID</a:t>
            </a:r>
            <a:r>
              <a:rPr lang="en-US" sz="1400" dirty="0"/>
              <a:t> = </a:t>
            </a:r>
            <a:r>
              <a:rPr lang="en-US" sz="1400" dirty="0" err="1"/>
              <a:t>r.Route_ID</a:t>
            </a:r>
            <a:r>
              <a:rPr lang="en-US" sz="1400" dirty="0"/>
              <a:t>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E7C41-07E1-BB71-C87B-B25B44ED4CDE}"/>
              </a:ext>
            </a:extLst>
          </p:cNvPr>
          <p:cNvSpPr txBox="1"/>
          <p:nvPr/>
        </p:nvSpPr>
        <p:spPr>
          <a:xfrm>
            <a:off x="290946" y="809707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Traffic Delay per Route.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FE0B48-D5DF-EFC2-F6D7-12BC247B5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281431"/>
              </p:ext>
            </p:extLst>
          </p:nvPr>
        </p:nvGraphicFramePr>
        <p:xfrm>
          <a:off x="6283570" y="267784"/>
          <a:ext cx="5617483" cy="621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85">
                  <a:extLst>
                    <a:ext uri="{9D8B030D-6E8A-4147-A177-3AD203B41FA5}">
                      <a16:colId xmlns:a16="http://schemas.microsoft.com/office/drawing/2014/main" val="3993225975"/>
                    </a:ext>
                  </a:extLst>
                </a:gridCol>
                <a:gridCol w="3724298">
                  <a:extLst>
                    <a:ext uri="{9D8B030D-6E8A-4147-A177-3AD203B41FA5}">
                      <a16:colId xmlns:a16="http://schemas.microsoft.com/office/drawing/2014/main" val="2250124654"/>
                    </a:ext>
                  </a:extLst>
                </a:gridCol>
              </a:tblGrid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Route_ID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avg_traffic_delay_min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6331143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130321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R002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4.63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3808079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2.75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894468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0.54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2924908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R005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10.61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6961907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11.67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1597036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10.87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492020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8.5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7504088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5.75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831639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8.83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7491471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6.07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9419842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5.66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8763966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9.35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9716113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11.9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5326794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7.63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7976284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1.51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3952303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2.26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1793567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3.9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4839743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12.61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5980116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R020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5.11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779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47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5C895C-D43A-890C-D4F2-572F9A3E7FD3}"/>
              </a:ext>
            </a:extLst>
          </p:cNvPr>
          <p:cNvSpPr txBox="1"/>
          <p:nvPr/>
        </p:nvSpPr>
        <p:spPr>
          <a:xfrm>
            <a:off x="290946" y="387916"/>
            <a:ext cx="14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Task 8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DFA44-2689-D4C0-4D1F-0A389999BCB9}"/>
              </a:ext>
            </a:extLst>
          </p:cNvPr>
          <p:cNvSpPr txBox="1"/>
          <p:nvPr/>
        </p:nvSpPr>
        <p:spPr>
          <a:xfrm>
            <a:off x="290946" y="809707"/>
            <a:ext cx="580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Video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A21C0-BB92-BB7F-94AA-64205174BD80}"/>
              </a:ext>
            </a:extLst>
          </p:cNvPr>
          <p:cNvSpPr txBox="1"/>
          <p:nvPr/>
        </p:nvSpPr>
        <p:spPr>
          <a:xfrm>
            <a:off x="290945" y="1474726"/>
            <a:ext cx="10058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Link -  </a:t>
            </a:r>
            <a:r>
              <a:rPr lang="en-GB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https://drive.google.com/file/d/19cK_CRqOzN3pQ5pib1Tj8d7qqiE9A_Ta/view?usp=sharing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441088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</TotalTime>
  <Words>3987</Words>
  <Application>Microsoft Office PowerPoint</Application>
  <PresentationFormat>Widescreen</PresentationFormat>
  <Paragraphs>1275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 Narrow</vt:lpstr>
      <vt:lpstr>Arial</vt:lpstr>
      <vt:lpstr>Arial Narrow</vt:lpstr>
      <vt:lpstr>Calibri</vt:lpstr>
      <vt:lpstr>Calibri Light</vt:lpstr>
      <vt:lpstr>Sans Serif Collection</vt:lpstr>
      <vt:lpstr>7_Office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saksham kumar</dc:creator>
  <cp:lastModifiedBy>saksham</cp:lastModifiedBy>
  <cp:revision>11</cp:revision>
  <dcterms:created xsi:type="dcterms:W3CDTF">2026-03-19T19:35:37Z</dcterms:created>
  <dcterms:modified xsi:type="dcterms:W3CDTF">2026-03-21T17:57:36Z</dcterms:modified>
</cp:coreProperties>
</file>